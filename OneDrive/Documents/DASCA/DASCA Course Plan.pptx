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</p:sldMasterIdLst>
  <p:notesMasterIdLst>
    <p:notesMasterId r:id="rId17"/>
  </p:notesMasterIdLst>
  <p:sldIdLst>
    <p:sldId id="256" r:id="rId3"/>
    <p:sldId id="311" r:id="rId4"/>
    <p:sldId id="318" r:id="rId5"/>
    <p:sldId id="314" r:id="rId6"/>
    <p:sldId id="315" r:id="rId7"/>
    <p:sldId id="316" r:id="rId8"/>
    <p:sldId id="317" r:id="rId9"/>
    <p:sldId id="319" r:id="rId10"/>
    <p:sldId id="320" r:id="rId11"/>
    <p:sldId id="321" r:id="rId12"/>
    <p:sldId id="323" r:id="rId13"/>
    <p:sldId id="324" r:id="rId14"/>
    <p:sldId id="325" r:id="rId15"/>
    <p:sldId id="313" r:id="rId16"/>
  </p:sldIdLst>
  <p:sldSz cx="9144000" cy="5143500" type="screen16x9"/>
  <p:notesSz cx="6858000" cy="9144000"/>
  <p:embeddedFontLst>
    <p:embeddedFont>
      <p:font typeface="Aldrich" panose="020B0604020202020204" charset="0"/>
      <p:regular r:id="rId18"/>
    </p:embeddedFont>
    <p:embeddedFont>
      <p:font typeface="Bai Jamjuree" panose="020B0604020202020204" charset="-34"/>
      <p:regular r:id="rId19"/>
      <p:bold r:id="rId20"/>
      <p:italic r:id="rId21"/>
      <p:boldItalic r:id="rId22"/>
    </p:embeddedFont>
    <p:embeddedFont>
      <p:font typeface="Nunito Light" pitchFamily="2" charset="0"/>
      <p:regular r:id="rId23"/>
      <p:italic r:id="rId24"/>
    </p:embeddedFont>
    <p:embeddedFont>
      <p:font typeface="Proxima Nova" panose="020B0604020202020204" charset="0"/>
      <p:regular r:id="rId25"/>
      <p:bold r:id="rId26"/>
      <p:italic r:id="rId27"/>
      <p:boldItalic r:id="rId28"/>
    </p:embeddedFont>
    <p:embeddedFont>
      <p:font typeface="Proxima Nova Semibold" panose="020B0604020202020204" charset="0"/>
      <p:regular r:id="rId29"/>
      <p:bold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12">
          <p15:clr>
            <a:srgbClr val="747775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65F194-686D-4626-AA03-DDA16BDE0137}">
  <a:tblStyle styleId="{4865F194-686D-4626-AA03-DDA16BDE01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90A8B08-F87A-4DE3-810D-2623E257D6C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44" y="234"/>
      </p:cViewPr>
      <p:guideLst>
        <p:guide orient="horz" pos="61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7a4ff1d506_0_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27a4ff1d506_0_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3221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14051" y="-47376"/>
            <a:ext cx="9372344" cy="5238247"/>
            <a:chOff x="172550" y="816675"/>
            <a:chExt cx="7278925" cy="4068225"/>
          </a:xfrm>
        </p:grpSpPr>
        <p:sp>
          <p:nvSpPr>
            <p:cNvPr id="10" name="Google Shape;10;p2"/>
            <p:cNvSpPr/>
            <p:nvPr/>
          </p:nvSpPr>
          <p:spPr>
            <a:xfrm>
              <a:off x="172550" y="816675"/>
              <a:ext cx="4143175" cy="2365050"/>
            </a:xfrm>
            <a:custGeom>
              <a:avLst/>
              <a:gdLst/>
              <a:ahLst/>
              <a:cxnLst/>
              <a:rect l="l" t="t" r="r" b="b"/>
              <a:pathLst>
                <a:path w="165727" h="94602" extrusionOk="0">
                  <a:moveTo>
                    <a:pt x="0" y="1"/>
                  </a:moveTo>
                  <a:lnTo>
                    <a:pt x="0" y="16808"/>
                  </a:lnTo>
                  <a:lnTo>
                    <a:pt x="75606" y="92414"/>
                  </a:lnTo>
                  <a:cubicBezTo>
                    <a:pt x="77065" y="93872"/>
                    <a:pt x="78987" y="94601"/>
                    <a:pt x="80910" y="94601"/>
                  </a:cubicBezTo>
                  <a:cubicBezTo>
                    <a:pt x="82832" y="94601"/>
                    <a:pt x="84755" y="93872"/>
                    <a:pt x="86213" y="92414"/>
                  </a:cubicBezTo>
                  <a:lnTo>
                    <a:pt x="162809" y="15818"/>
                  </a:lnTo>
                  <a:cubicBezTo>
                    <a:pt x="165726" y="12901"/>
                    <a:pt x="165726" y="8128"/>
                    <a:pt x="162809" y="5211"/>
                  </a:cubicBezTo>
                  <a:lnTo>
                    <a:pt x="157599" y="1"/>
                  </a:lnTo>
                  <a:close/>
                </a:path>
              </a:pathLst>
            </a:custGeom>
            <a:solidFill>
              <a:srgbClr val="1D215B">
                <a:alpha val="70250"/>
              </a:srgbClr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172550" y="1638950"/>
              <a:ext cx="3326450" cy="3245950"/>
            </a:xfrm>
            <a:custGeom>
              <a:avLst/>
              <a:gdLst/>
              <a:ahLst/>
              <a:cxnLst/>
              <a:rect l="l" t="t" r="r" b="b"/>
              <a:pathLst>
                <a:path w="133058" h="129838" extrusionOk="0">
                  <a:moveTo>
                    <a:pt x="105" y="1"/>
                  </a:moveTo>
                  <a:cubicBezTo>
                    <a:pt x="70" y="1"/>
                    <a:pt x="35" y="1"/>
                    <a:pt x="0" y="2"/>
                  </a:cubicBezTo>
                  <a:lnTo>
                    <a:pt x="0" y="129838"/>
                  </a:lnTo>
                  <a:lnTo>
                    <a:pt x="133058" y="129838"/>
                  </a:lnTo>
                  <a:lnTo>
                    <a:pt x="5406" y="2187"/>
                  </a:lnTo>
                  <a:cubicBezTo>
                    <a:pt x="3943" y="724"/>
                    <a:pt x="2024" y="1"/>
                    <a:pt x="105" y="1"/>
                  </a:cubicBezTo>
                  <a:close/>
                </a:path>
              </a:pathLst>
            </a:custGeom>
            <a:solidFill>
              <a:srgbClr val="0A5F85">
                <a:alpha val="65820"/>
              </a:srgbClr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545150" y="2495275"/>
              <a:ext cx="3906325" cy="2389625"/>
            </a:xfrm>
            <a:custGeom>
              <a:avLst/>
              <a:gdLst/>
              <a:ahLst/>
              <a:cxnLst/>
              <a:rect l="l" t="t" r="r" b="b"/>
              <a:pathLst>
                <a:path w="156253" h="95585" extrusionOk="0">
                  <a:moveTo>
                    <a:pt x="84816" y="1"/>
                  </a:moveTo>
                  <a:cubicBezTo>
                    <a:pt x="82895" y="1"/>
                    <a:pt x="80972" y="728"/>
                    <a:pt x="79514" y="2182"/>
                  </a:cubicBezTo>
                  <a:lnTo>
                    <a:pt x="2917" y="78787"/>
                  </a:lnTo>
                  <a:cubicBezTo>
                    <a:pt x="0" y="81695"/>
                    <a:pt x="0" y="86468"/>
                    <a:pt x="2917" y="89385"/>
                  </a:cubicBezTo>
                  <a:lnTo>
                    <a:pt x="9109" y="95585"/>
                  </a:lnTo>
                  <a:lnTo>
                    <a:pt x="156252" y="95585"/>
                  </a:lnTo>
                  <a:lnTo>
                    <a:pt x="156252" y="68322"/>
                  </a:lnTo>
                  <a:lnTo>
                    <a:pt x="90112" y="2182"/>
                  </a:lnTo>
                  <a:cubicBezTo>
                    <a:pt x="88658" y="728"/>
                    <a:pt x="86737" y="1"/>
                    <a:pt x="84816" y="1"/>
                  </a:cubicBezTo>
                  <a:close/>
                </a:path>
              </a:pathLst>
            </a:custGeom>
            <a:solidFill>
              <a:srgbClr val="0A5F85">
                <a:alpha val="62660"/>
              </a:srgbClr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036550" y="1410550"/>
              <a:ext cx="5672700" cy="3474350"/>
            </a:xfrm>
            <a:custGeom>
              <a:avLst/>
              <a:gdLst/>
              <a:ahLst/>
              <a:cxnLst/>
              <a:rect l="l" t="t" r="r" b="b"/>
              <a:pathLst>
                <a:path w="226908" h="138974" extrusionOk="0">
                  <a:moveTo>
                    <a:pt x="142090" y="0"/>
                  </a:moveTo>
                  <a:cubicBezTo>
                    <a:pt x="140168" y="0"/>
                    <a:pt x="138245" y="730"/>
                    <a:pt x="136787" y="2188"/>
                  </a:cubicBezTo>
                  <a:lnTo>
                    <a:pt x="0" y="138974"/>
                  </a:lnTo>
                  <a:lnTo>
                    <a:pt x="174398" y="138974"/>
                  </a:lnTo>
                  <a:lnTo>
                    <a:pt x="223990" y="89382"/>
                  </a:lnTo>
                  <a:cubicBezTo>
                    <a:pt x="226907" y="86465"/>
                    <a:pt x="226907" y="81701"/>
                    <a:pt x="223990" y="78784"/>
                  </a:cubicBezTo>
                  <a:lnTo>
                    <a:pt x="147394" y="2188"/>
                  </a:lnTo>
                  <a:cubicBezTo>
                    <a:pt x="145935" y="730"/>
                    <a:pt x="144013" y="0"/>
                    <a:pt x="142090" y="0"/>
                  </a:cubicBezTo>
                  <a:close/>
                </a:path>
              </a:pathLst>
            </a:custGeom>
            <a:solidFill>
              <a:srgbClr val="2A377F">
                <a:alpha val="62660"/>
              </a:srgbClr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529125" y="816675"/>
              <a:ext cx="2922350" cy="2922325"/>
            </a:xfrm>
            <a:custGeom>
              <a:avLst/>
              <a:gdLst/>
              <a:ahLst/>
              <a:cxnLst/>
              <a:rect l="l" t="t" r="r" b="b"/>
              <a:pathLst>
                <a:path w="116894" h="116893" extrusionOk="0">
                  <a:moveTo>
                    <a:pt x="1" y="1"/>
                  </a:moveTo>
                  <a:lnTo>
                    <a:pt x="116893" y="116893"/>
                  </a:lnTo>
                  <a:lnTo>
                    <a:pt x="116893" y="1"/>
                  </a:lnTo>
                  <a:close/>
                </a:path>
              </a:pathLst>
            </a:custGeom>
            <a:solidFill>
              <a:srgbClr val="2D6386"/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529125" y="816675"/>
              <a:ext cx="2922350" cy="2922325"/>
            </a:xfrm>
            <a:custGeom>
              <a:avLst/>
              <a:gdLst/>
              <a:ahLst/>
              <a:cxnLst/>
              <a:rect l="l" t="t" r="r" b="b"/>
              <a:pathLst>
                <a:path w="116894" h="116893" extrusionOk="0">
                  <a:moveTo>
                    <a:pt x="1" y="1"/>
                  </a:moveTo>
                  <a:lnTo>
                    <a:pt x="116893" y="116893"/>
                  </a:lnTo>
                  <a:lnTo>
                    <a:pt x="116893" y="1"/>
                  </a:lnTo>
                  <a:close/>
                </a:path>
              </a:pathLst>
            </a:custGeom>
            <a:solidFill>
              <a:srgbClr val="154378">
                <a:alpha val="76580"/>
              </a:srgbClr>
            </a:solidFill>
            <a:ln>
              <a:noFill/>
            </a:ln>
            <a:effectLst>
              <a:outerShdw blurRad="500063" dist="28575" dir="6360000" algn="bl" rotWithShape="0">
                <a:srgbClr val="000000">
                  <a:alpha val="1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473338" y="1504713"/>
            <a:ext cx="6197100" cy="15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 b="1">
                <a:latin typeface="Aldrich"/>
                <a:ea typeface="Aldrich"/>
                <a:cs typeface="Aldrich"/>
                <a:sym typeface="Aldrich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473563" y="3162987"/>
            <a:ext cx="6197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4"/>
          <p:cNvGrpSpPr/>
          <p:nvPr/>
        </p:nvGrpSpPr>
        <p:grpSpPr>
          <a:xfrm rot="10800000" flipH="1">
            <a:off x="-114051" y="-47376"/>
            <a:ext cx="9372344" cy="5238247"/>
            <a:chOff x="172550" y="816675"/>
            <a:chExt cx="7278925" cy="4068225"/>
          </a:xfrm>
        </p:grpSpPr>
        <p:sp>
          <p:nvSpPr>
            <p:cNvPr id="41" name="Google Shape;41;p4"/>
            <p:cNvSpPr/>
            <p:nvPr/>
          </p:nvSpPr>
          <p:spPr>
            <a:xfrm>
              <a:off x="172550" y="816675"/>
              <a:ext cx="4143175" cy="2365050"/>
            </a:xfrm>
            <a:custGeom>
              <a:avLst/>
              <a:gdLst/>
              <a:ahLst/>
              <a:cxnLst/>
              <a:rect l="l" t="t" r="r" b="b"/>
              <a:pathLst>
                <a:path w="165727" h="94602" extrusionOk="0">
                  <a:moveTo>
                    <a:pt x="0" y="1"/>
                  </a:moveTo>
                  <a:lnTo>
                    <a:pt x="0" y="16808"/>
                  </a:lnTo>
                  <a:lnTo>
                    <a:pt x="75606" y="92414"/>
                  </a:lnTo>
                  <a:cubicBezTo>
                    <a:pt x="77065" y="93872"/>
                    <a:pt x="78987" y="94601"/>
                    <a:pt x="80910" y="94601"/>
                  </a:cubicBezTo>
                  <a:cubicBezTo>
                    <a:pt x="82832" y="94601"/>
                    <a:pt x="84755" y="93872"/>
                    <a:pt x="86213" y="92414"/>
                  </a:cubicBezTo>
                  <a:lnTo>
                    <a:pt x="162809" y="15818"/>
                  </a:lnTo>
                  <a:cubicBezTo>
                    <a:pt x="165726" y="12901"/>
                    <a:pt x="165726" y="8128"/>
                    <a:pt x="162809" y="5211"/>
                  </a:cubicBezTo>
                  <a:lnTo>
                    <a:pt x="157599" y="1"/>
                  </a:lnTo>
                  <a:close/>
                </a:path>
              </a:pathLst>
            </a:custGeom>
            <a:solidFill>
              <a:srgbClr val="1D215B">
                <a:alpha val="70250"/>
              </a:srgbClr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172550" y="1638950"/>
              <a:ext cx="3326450" cy="3245950"/>
            </a:xfrm>
            <a:custGeom>
              <a:avLst/>
              <a:gdLst/>
              <a:ahLst/>
              <a:cxnLst/>
              <a:rect l="l" t="t" r="r" b="b"/>
              <a:pathLst>
                <a:path w="133058" h="129838" extrusionOk="0">
                  <a:moveTo>
                    <a:pt x="105" y="1"/>
                  </a:moveTo>
                  <a:cubicBezTo>
                    <a:pt x="70" y="1"/>
                    <a:pt x="35" y="1"/>
                    <a:pt x="0" y="2"/>
                  </a:cubicBezTo>
                  <a:lnTo>
                    <a:pt x="0" y="129838"/>
                  </a:lnTo>
                  <a:lnTo>
                    <a:pt x="133058" y="129838"/>
                  </a:lnTo>
                  <a:lnTo>
                    <a:pt x="5406" y="2187"/>
                  </a:lnTo>
                  <a:cubicBezTo>
                    <a:pt x="3943" y="724"/>
                    <a:pt x="2024" y="1"/>
                    <a:pt x="105" y="1"/>
                  </a:cubicBezTo>
                  <a:close/>
                </a:path>
              </a:pathLst>
            </a:custGeom>
            <a:solidFill>
              <a:srgbClr val="0A5F85">
                <a:alpha val="65820"/>
              </a:srgbClr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3545150" y="2495275"/>
              <a:ext cx="3906325" cy="2389625"/>
            </a:xfrm>
            <a:custGeom>
              <a:avLst/>
              <a:gdLst/>
              <a:ahLst/>
              <a:cxnLst/>
              <a:rect l="l" t="t" r="r" b="b"/>
              <a:pathLst>
                <a:path w="156253" h="95585" extrusionOk="0">
                  <a:moveTo>
                    <a:pt x="84816" y="1"/>
                  </a:moveTo>
                  <a:cubicBezTo>
                    <a:pt x="82895" y="1"/>
                    <a:pt x="80972" y="728"/>
                    <a:pt x="79514" y="2182"/>
                  </a:cubicBezTo>
                  <a:lnTo>
                    <a:pt x="2917" y="78787"/>
                  </a:lnTo>
                  <a:cubicBezTo>
                    <a:pt x="0" y="81695"/>
                    <a:pt x="0" y="86468"/>
                    <a:pt x="2917" y="89385"/>
                  </a:cubicBezTo>
                  <a:lnTo>
                    <a:pt x="9109" y="95585"/>
                  </a:lnTo>
                  <a:lnTo>
                    <a:pt x="156252" y="95585"/>
                  </a:lnTo>
                  <a:lnTo>
                    <a:pt x="156252" y="68322"/>
                  </a:lnTo>
                  <a:lnTo>
                    <a:pt x="90112" y="2182"/>
                  </a:lnTo>
                  <a:cubicBezTo>
                    <a:pt x="88658" y="728"/>
                    <a:pt x="86737" y="1"/>
                    <a:pt x="84816" y="1"/>
                  </a:cubicBezTo>
                  <a:close/>
                </a:path>
              </a:pathLst>
            </a:custGeom>
            <a:solidFill>
              <a:srgbClr val="0A5F85">
                <a:alpha val="62660"/>
              </a:srgbClr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1036550" y="1410550"/>
              <a:ext cx="5672700" cy="3474350"/>
            </a:xfrm>
            <a:custGeom>
              <a:avLst/>
              <a:gdLst/>
              <a:ahLst/>
              <a:cxnLst/>
              <a:rect l="l" t="t" r="r" b="b"/>
              <a:pathLst>
                <a:path w="226908" h="138974" extrusionOk="0">
                  <a:moveTo>
                    <a:pt x="142090" y="0"/>
                  </a:moveTo>
                  <a:cubicBezTo>
                    <a:pt x="140168" y="0"/>
                    <a:pt x="138245" y="730"/>
                    <a:pt x="136787" y="2188"/>
                  </a:cubicBezTo>
                  <a:lnTo>
                    <a:pt x="0" y="138974"/>
                  </a:lnTo>
                  <a:lnTo>
                    <a:pt x="174398" y="138974"/>
                  </a:lnTo>
                  <a:lnTo>
                    <a:pt x="223990" y="89382"/>
                  </a:lnTo>
                  <a:cubicBezTo>
                    <a:pt x="226907" y="86465"/>
                    <a:pt x="226907" y="81701"/>
                    <a:pt x="223990" y="78784"/>
                  </a:cubicBezTo>
                  <a:lnTo>
                    <a:pt x="147394" y="2188"/>
                  </a:lnTo>
                  <a:cubicBezTo>
                    <a:pt x="145935" y="730"/>
                    <a:pt x="144013" y="0"/>
                    <a:pt x="142090" y="0"/>
                  </a:cubicBezTo>
                  <a:close/>
                </a:path>
              </a:pathLst>
            </a:custGeom>
            <a:solidFill>
              <a:srgbClr val="2A377F">
                <a:alpha val="62660"/>
              </a:srgbClr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4529125" y="816675"/>
              <a:ext cx="2922350" cy="2922325"/>
            </a:xfrm>
            <a:custGeom>
              <a:avLst/>
              <a:gdLst/>
              <a:ahLst/>
              <a:cxnLst/>
              <a:rect l="l" t="t" r="r" b="b"/>
              <a:pathLst>
                <a:path w="116894" h="116893" extrusionOk="0">
                  <a:moveTo>
                    <a:pt x="1" y="1"/>
                  </a:moveTo>
                  <a:lnTo>
                    <a:pt x="116893" y="116893"/>
                  </a:lnTo>
                  <a:lnTo>
                    <a:pt x="116893" y="1"/>
                  </a:lnTo>
                  <a:close/>
                </a:path>
              </a:pathLst>
            </a:custGeom>
            <a:solidFill>
              <a:srgbClr val="2D6386"/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4529125" y="816675"/>
              <a:ext cx="2922350" cy="2922325"/>
            </a:xfrm>
            <a:custGeom>
              <a:avLst/>
              <a:gdLst/>
              <a:ahLst/>
              <a:cxnLst/>
              <a:rect l="l" t="t" r="r" b="b"/>
              <a:pathLst>
                <a:path w="116894" h="116893" extrusionOk="0">
                  <a:moveTo>
                    <a:pt x="1" y="1"/>
                  </a:moveTo>
                  <a:lnTo>
                    <a:pt x="116893" y="116893"/>
                  </a:lnTo>
                  <a:lnTo>
                    <a:pt x="116893" y="1"/>
                  </a:lnTo>
                  <a:close/>
                </a:path>
              </a:pathLst>
            </a:custGeom>
            <a:solidFill>
              <a:srgbClr val="154378">
                <a:alpha val="76580"/>
              </a:srgbClr>
            </a:solidFill>
            <a:ln>
              <a:noFill/>
            </a:ln>
            <a:effectLst>
              <a:outerShdw blurRad="500063" dist="28575" dir="6360000" algn="bl" rotWithShape="0">
                <a:srgbClr val="000000">
                  <a:alpha val="1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12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29"/>
          <p:cNvGrpSpPr/>
          <p:nvPr/>
        </p:nvGrpSpPr>
        <p:grpSpPr>
          <a:xfrm>
            <a:off x="-114051" y="-47376"/>
            <a:ext cx="9372344" cy="5238247"/>
            <a:chOff x="172550" y="816675"/>
            <a:chExt cx="7278925" cy="4068225"/>
          </a:xfrm>
        </p:grpSpPr>
        <p:sp>
          <p:nvSpPr>
            <p:cNvPr id="448" name="Google Shape;448;p29"/>
            <p:cNvSpPr/>
            <p:nvPr/>
          </p:nvSpPr>
          <p:spPr>
            <a:xfrm>
              <a:off x="172550" y="816675"/>
              <a:ext cx="4143175" cy="2365050"/>
            </a:xfrm>
            <a:custGeom>
              <a:avLst/>
              <a:gdLst/>
              <a:ahLst/>
              <a:cxnLst/>
              <a:rect l="l" t="t" r="r" b="b"/>
              <a:pathLst>
                <a:path w="165727" h="94602" extrusionOk="0">
                  <a:moveTo>
                    <a:pt x="0" y="1"/>
                  </a:moveTo>
                  <a:lnTo>
                    <a:pt x="0" y="16808"/>
                  </a:lnTo>
                  <a:lnTo>
                    <a:pt x="75606" y="92414"/>
                  </a:lnTo>
                  <a:cubicBezTo>
                    <a:pt x="77065" y="93872"/>
                    <a:pt x="78987" y="94601"/>
                    <a:pt x="80910" y="94601"/>
                  </a:cubicBezTo>
                  <a:cubicBezTo>
                    <a:pt x="82832" y="94601"/>
                    <a:pt x="84755" y="93872"/>
                    <a:pt x="86213" y="92414"/>
                  </a:cubicBezTo>
                  <a:lnTo>
                    <a:pt x="162809" y="15818"/>
                  </a:lnTo>
                  <a:cubicBezTo>
                    <a:pt x="165726" y="12901"/>
                    <a:pt x="165726" y="8128"/>
                    <a:pt x="162809" y="5211"/>
                  </a:cubicBezTo>
                  <a:lnTo>
                    <a:pt x="157599" y="1"/>
                  </a:lnTo>
                  <a:close/>
                </a:path>
              </a:pathLst>
            </a:custGeom>
            <a:solidFill>
              <a:srgbClr val="1D215B">
                <a:alpha val="70250"/>
              </a:srgbClr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9"/>
            <p:cNvSpPr/>
            <p:nvPr/>
          </p:nvSpPr>
          <p:spPr>
            <a:xfrm>
              <a:off x="172550" y="1638950"/>
              <a:ext cx="3326450" cy="3245950"/>
            </a:xfrm>
            <a:custGeom>
              <a:avLst/>
              <a:gdLst/>
              <a:ahLst/>
              <a:cxnLst/>
              <a:rect l="l" t="t" r="r" b="b"/>
              <a:pathLst>
                <a:path w="133058" h="129838" extrusionOk="0">
                  <a:moveTo>
                    <a:pt x="105" y="1"/>
                  </a:moveTo>
                  <a:cubicBezTo>
                    <a:pt x="70" y="1"/>
                    <a:pt x="35" y="1"/>
                    <a:pt x="0" y="2"/>
                  </a:cubicBezTo>
                  <a:lnTo>
                    <a:pt x="0" y="129838"/>
                  </a:lnTo>
                  <a:lnTo>
                    <a:pt x="133058" y="129838"/>
                  </a:lnTo>
                  <a:lnTo>
                    <a:pt x="5406" y="2187"/>
                  </a:lnTo>
                  <a:cubicBezTo>
                    <a:pt x="3943" y="724"/>
                    <a:pt x="2024" y="1"/>
                    <a:pt x="105" y="1"/>
                  </a:cubicBezTo>
                  <a:close/>
                </a:path>
              </a:pathLst>
            </a:custGeom>
            <a:solidFill>
              <a:srgbClr val="0A5F85">
                <a:alpha val="65820"/>
              </a:srgbClr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9"/>
            <p:cNvSpPr/>
            <p:nvPr/>
          </p:nvSpPr>
          <p:spPr>
            <a:xfrm>
              <a:off x="3545150" y="2495275"/>
              <a:ext cx="3906325" cy="2389625"/>
            </a:xfrm>
            <a:custGeom>
              <a:avLst/>
              <a:gdLst/>
              <a:ahLst/>
              <a:cxnLst/>
              <a:rect l="l" t="t" r="r" b="b"/>
              <a:pathLst>
                <a:path w="156253" h="95585" extrusionOk="0">
                  <a:moveTo>
                    <a:pt x="84816" y="1"/>
                  </a:moveTo>
                  <a:cubicBezTo>
                    <a:pt x="82895" y="1"/>
                    <a:pt x="80972" y="728"/>
                    <a:pt x="79514" y="2182"/>
                  </a:cubicBezTo>
                  <a:lnTo>
                    <a:pt x="2917" y="78787"/>
                  </a:lnTo>
                  <a:cubicBezTo>
                    <a:pt x="0" y="81695"/>
                    <a:pt x="0" y="86468"/>
                    <a:pt x="2917" y="89385"/>
                  </a:cubicBezTo>
                  <a:lnTo>
                    <a:pt x="9109" y="95585"/>
                  </a:lnTo>
                  <a:lnTo>
                    <a:pt x="156252" y="95585"/>
                  </a:lnTo>
                  <a:lnTo>
                    <a:pt x="156252" y="68322"/>
                  </a:lnTo>
                  <a:lnTo>
                    <a:pt x="90112" y="2182"/>
                  </a:lnTo>
                  <a:cubicBezTo>
                    <a:pt x="88658" y="728"/>
                    <a:pt x="86737" y="1"/>
                    <a:pt x="84816" y="1"/>
                  </a:cubicBezTo>
                  <a:close/>
                </a:path>
              </a:pathLst>
            </a:custGeom>
            <a:solidFill>
              <a:srgbClr val="0A5F85">
                <a:alpha val="62660"/>
              </a:srgbClr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9"/>
            <p:cNvSpPr/>
            <p:nvPr/>
          </p:nvSpPr>
          <p:spPr>
            <a:xfrm>
              <a:off x="1036550" y="1410550"/>
              <a:ext cx="5672700" cy="3474350"/>
            </a:xfrm>
            <a:custGeom>
              <a:avLst/>
              <a:gdLst/>
              <a:ahLst/>
              <a:cxnLst/>
              <a:rect l="l" t="t" r="r" b="b"/>
              <a:pathLst>
                <a:path w="226908" h="138974" extrusionOk="0">
                  <a:moveTo>
                    <a:pt x="142090" y="0"/>
                  </a:moveTo>
                  <a:cubicBezTo>
                    <a:pt x="140168" y="0"/>
                    <a:pt x="138245" y="730"/>
                    <a:pt x="136787" y="2188"/>
                  </a:cubicBezTo>
                  <a:lnTo>
                    <a:pt x="0" y="138974"/>
                  </a:lnTo>
                  <a:lnTo>
                    <a:pt x="174398" y="138974"/>
                  </a:lnTo>
                  <a:lnTo>
                    <a:pt x="223990" y="89382"/>
                  </a:lnTo>
                  <a:cubicBezTo>
                    <a:pt x="226907" y="86465"/>
                    <a:pt x="226907" y="81701"/>
                    <a:pt x="223990" y="78784"/>
                  </a:cubicBezTo>
                  <a:lnTo>
                    <a:pt x="147394" y="2188"/>
                  </a:lnTo>
                  <a:cubicBezTo>
                    <a:pt x="145935" y="730"/>
                    <a:pt x="144013" y="0"/>
                    <a:pt x="142090" y="0"/>
                  </a:cubicBezTo>
                  <a:close/>
                </a:path>
              </a:pathLst>
            </a:custGeom>
            <a:solidFill>
              <a:srgbClr val="2A377F">
                <a:alpha val="62660"/>
              </a:srgbClr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4529125" y="816675"/>
              <a:ext cx="2922350" cy="2922325"/>
            </a:xfrm>
            <a:custGeom>
              <a:avLst/>
              <a:gdLst/>
              <a:ahLst/>
              <a:cxnLst/>
              <a:rect l="l" t="t" r="r" b="b"/>
              <a:pathLst>
                <a:path w="116894" h="116893" extrusionOk="0">
                  <a:moveTo>
                    <a:pt x="1" y="1"/>
                  </a:moveTo>
                  <a:lnTo>
                    <a:pt x="116893" y="116893"/>
                  </a:lnTo>
                  <a:lnTo>
                    <a:pt x="116893" y="1"/>
                  </a:lnTo>
                  <a:close/>
                </a:path>
              </a:pathLst>
            </a:custGeom>
            <a:solidFill>
              <a:srgbClr val="2D6386"/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4529125" y="816675"/>
              <a:ext cx="2922350" cy="2922325"/>
            </a:xfrm>
            <a:custGeom>
              <a:avLst/>
              <a:gdLst/>
              <a:ahLst/>
              <a:cxnLst/>
              <a:rect l="l" t="t" r="r" b="b"/>
              <a:pathLst>
                <a:path w="116894" h="116893" extrusionOk="0">
                  <a:moveTo>
                    <a:pt x="1" y="1"/>
                  </a:moveTo>
                  <a:lnTo>
                    <a:pt x="116893" y="116893"/>
                  </a:lnTo>
                  <a:lnTo>
                    <a:pt x="116893" y="1"/>
                  </a:lnTo>
                  <a:close/>
                </a:path>
              </a:pathLst>
            </a:custGeom>
            <a:solidFill>
              <a:srgbClr val="154378">
                <a:alpha val="76580"/>
              </a:srgbClr>
            </a:solidFill>
            <a:ln>
              <a:noFill/>
            </a:ln>
            <a:effectLst>
              <a:outerShdw blurRad="500063" dist="28575" dir="6360000" algn="bl" rotWithShape="0">
                <a:srgbClr val="000000">
                  <a:alpha val="1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54" name="Google Shape;454;p2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668400" y="444601"/>
            <a:ext cx="610248" cy="6102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5" name="Google Shape;455;p29"/>
          <p:cNvGrpSpPr/>
          <p:nvPr/>
        </p:nvGrpSpPr>
        <p:grpSpPr>
          <a:xfrm>
            <a:off x="6554145" y="3249243"/>
            <a:ext cx="795862" cy="557722"/>
            <a:chOff x="4497621" y="4252575"/>
            <a:chExt cx="678947" cy="475790"/>
          </a:xfrm>
        </p:grpSpPr>
        <p:sp>
          <p:nvSpPr>
            <p:cNvPr id="456" name="Google Shape;456;p29"/>
            <p:cNvSpPr/>
            <p:nvPr/>
          </p:nvSpPr>
          <p:spPr>
            <a:xfrm>
              <a:off x="4497621" y="4252575"/>
              <a:ext cx="328867" cy="475790"/>
            </a:xfrm>
            <a:custGeom>
              <a:avLst/>
              <a:gdLst/>
              <a:ahLst/>
              <a:cxnLst/>
              <a:rect l="l" t="t" r="r" b="b"/>
              <a:pathLst>
                <a:path w="8405" h="12160" extrusionOk="0">
                  <a:moveTo>
                    <a:pt x="0" y="0"/>
                  </a:moveTo>
                  <a:lnTo>
                    <a:pt x="4104" y="6085"/>
                  </a:lnTo>
                  <a:lnTo>
                    <a:pt x="0" y="12160"/>
                  </a:lnTo>
                  <a:lnTo>
                    <a:pt x="4300" y="12160"/>
                  </a:lnTo>
                  <a:lnTo>
                    <a:pt x="8395" y="6085"/>
                  </a:lnTo>
                  <a:lnTo>
                    <a:pt x="8404" y="6085"/>
                  </a:lnTo>
                  <a:lnTo>
                    <a:pt x="8404" y="6076"/>
                  </a:lnTo>
                  <a:lnTo>
                    <a:pt x="8395" y="6076"/>
                  </a:lnTo>
                  <a:lnTo>
                    <a:pt x="4300" y="0"/>
                  </a:lnTo>
                  <a:close/>
                </a:path>
              </a:pathLst>
            </a:custGeom>
            <a:solidFill>
              <a:srgbClr val="FFFFFF">
                <a:alpha val="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4847741" y="4252575"/>
              <a:ext cx="328828" cy="475790"/>
            </a:xfrm>
            <a:custGeom>
              <a:avLst/>
              <a:gdLst/>
              <a:ahLst/>
              <a:cxnLst/>
              <a:rect l="l" t="t" r="r" b="b"/>
              <a:pathLst>
                <a:path w="8404" h="12160" extrusionOk="0">
                  <a:moveTo>
                    <a:pt x="0" y="0"/>
                  </a:moveTo>
                  <a:lnTo>
                    <a:pt x="4095" y="6085"/>
                  </a:lnTo>
                  <a:lnTo>
                    <a:pt x="0" y="12160"/>
                  </a:lnTo>
                  <a:lnTo>
                    <a:pt x="4300" y="12160"/>
                  </a:lnTo>
                  <a:lnTo>
                    <a:pt x="8395" y="6085"/>
                  </a:lnTo>
                  <a:lnTo>
                    <a:pt x="8404" y="6076"/>
                  </a:lnTo>
                  <a:lnTo>
                    <a:pt x="8395" y="6076"/>
                  </a:lnTo>
                  <a:lnTo>
                    <a:pt x="4300" y="0"/>
                  </a:lnTo>
                  <a:close/>
                </a:path>
              </a:pathLst>
            </a:custGeom>
            <a:solidFill>
              <a:srgbClr val="FFFFFF">
                <a:alpha val="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58" name="Google Shape;458;p2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406875" y="4045051"/>
            <a:ext cx="610248" cy="610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7836425" y="2130374"/>
            <a:ext cx="1382799" cy="13827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0" name="Google Shape;460;p29"/>
          <p:cNvGrpSpPr/>
          <p:nvPr/>
        </p:nvGrpSpPr>
        <p:grpSpPr>
          <a:xfrm>
            <a:off x="2648489" y="-1345894"/>
            <a:ext cx="2583769" cy="2583735"/>
            <a:chOff x="82300" y="284025"/>
            <a:chExt cx="1885275" cy="1885250"/>
          </a:xfrm>
        </p:grpSpPr>
        <p:sp>
          <p:nvSpPr>
            <p:cNvPr id="461" name="Google Shape;461;p29"/>
            <p:cNvSpPr/>
            <p:nvPr/>
          </p:nvSpPr>
          <p:spPr>
            <a:xfrm>
              <a:off x="82300" y="284025"/>
              <a:ext cx="1885275" cy="1885250"/>
            </a:xfrm>
            <a:custGeom>
              <a:avLst/>
              <a:gdLst/>
              <a:ahLst/>
              <a:cxnLst/>
              <a:rect l="l" t="t" r="r" b="b"/>
              <a:pathLst>
                <a:path w="75411" h="75410" extrusionOk="0">
                  <a:moveTo>
                    <a:pt x="37701" y="4907"/>
                  </a:moveTo>
                  <a:cubicBezTo>
                    <a:pt x="55820" y="4907"/>
                    <a:pt x="70513" y="19591"/>
                    <a:pt x="70513" y="37709"/>
                  </a:cubicBezTo>
                  <a:cubicBezTo>
                    <a:pt x="70513" y="55828"/>
                    <a:pt x="55820" y="70512"/>
                    <a:pt x="37701" y="70512"/>
                  </a:cubicBezTo>
                  <a:cubicBezTo>
                    <a:pt x="19591" y="70512"/>
                    <a:pt x="4898" y="55828"/>
                    <a:pt x="4898" y="37709"/>
                  </a:cubicBezTo>
                  <a:cubicBezTo>
                    <a:pt x="4898" y="19591"/>
                    <a:pt x="19591" y="4907"/>
                    <a:pt x="37701" y="4907"/>
                  </a:cubicBezTo>
                  <a:close/>
                  <a:moveTo>
                    <a:pt x="37701" y="0"/>
                  </a:moveTo>
                  <a:cubicBezTo>
                    <a:pt x="16879" y="0"/>
                    <a:pt x="1" y="16887"/>
                    <a:pt x="1" y="37709"/>
                  </a:cubicBezTo>
                  <a:cubicBezTo>
                    <a:pt x="1" y="58531"/>
                    <a:pt x="16879" y="75409"/>
                    <a:pt x="37701" y="75409"/>
                  </a:cubicBezTo>
                  <a:cubicBezTo>
                    <a:pt x="58532" y="75409"/>
                    <a:pt x="75410" y="58531"/>
                    <a:pt x="75410" y="37709"/>
                  </a:cubicBezTo>
                  <a:cubicBezTo>
                    <a:pt x="75410" y="16887"/>
                    <a:pt x="58532" y="0"/>
                    <a:pt x="37701" y="0"/>
                  </a:cubicBezTo>
                  <a:close/>
                </a:path>
              </a:pathLst>
            </a:custGeom>
            <a:solidFill>
              <a:srgbClr val="FFFFFF">
                <a:alpha val="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272550" y="474475"/>
              <a:ext cx="1504775" cy="1504550"/>
            </a:xfrm>
            <a:custGeom>
              <a:avLst/>
              <a:gdLst/>
              <a:ahLst/>
              <a:cxnLst/>
              <a:rect l="l" t="t" r="r" b="b"/>
              <a:pathLst>
                <a:path w="60191" h="60182" extrusionOk="0">
                  <a:moveTo>
                    <a:pt x="30091" y="3908"/>
                  </a:moveTo>
                  <a:cubicBezTo>
                    <a:pt x="44552" y="3908"/>
                    <a:pt x="56274" y="15630"/>
                    <a:pt x="56274" y="30091"/>
                  </a:cubicBezTo>
                  <a:cubicBezTo>
                    <a:pt x="56274" y="44552"/>
                    <a:pt x="44552" y="56274"/>
                    <a:pt x="30091" y="56274"/>
                  </a:cubicBezTo>
                  <a:cubicBezTo>
                    <a:pt x="15639" y="56274"/>
                    <a:pt x="3908" y="44552"/>
                    <a:pt x="3908" y="30091"/>
                  </a:cubicBezTo>
                  <a:cubicBezTo>
                    <a:pt x="3908" y="15630"/>
                    <a:pt x="15639" y="3908"/>
                    <a:pt x="30091" y="3908"/>
                  </a:cubicBezTo>
                  <a:close/>
                  <a:moveTo>
                    <a:pt x="30091" y="1"/>
                  </a:moveTo>
                  <a:cubicBezTo>
                    <a:pt x="13471" y="1"/>
                    <a:pt x="0" y="13471"/>
                    <a:pt x="0" y="30091"/>
                  </a:cubicBezTo>
                  <a:cubicBezTo>
                    <a:pt x="0" y="46711"/>
                    <a:pt x="13471" y="60182"/>
                    <a:pt x="30091" y="60182"/>
                  </a:cubicBezTo>
                  <a:cubicBezTo>
                    <a:pt x="46711" y="60182"/>
                    <a:pt x="60191" y="46711"/>
                    <a:pt x="60191" y="30091"/>
                  </a:cubicBezTo>
                  <a:cubicBezTo>
                    <a:pt x="60191" y="13471"/>
                    <a:pt x="46711" y="1"/>
                    <a:pt x="30091" y="1"/>
                  </a:cubicBezTo>
                  <a:close/>
                </a:path>
              </a:pathLst>
            </a:custGeom>
            <a:solidFill>
              <a:srgbClr val="FFFFFF">
                <a:alpha val="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3" name="Google Shape;463;p29"/>
          <p:cNvSpPr/>
          <p:nvPr/>
        </p:nvSpPr>
        <p:spPr>
          <a:xfrm>
            <a:off x="-98150" y="4530900"/>
            <a:ext cx="9448641" cy="451152"/>
          </a:xfrm>
          <a:custGeom>
            <a:avLst/>
            <a:gdLst/>
            <a:ahLst/>
            <a:cxnLst/>
            <a:rect l="l" t="t" r="r" b="b"/>
            <a:pathLst>
              <a:path w="241360" h="9573" extrusionOk="0">
                <a:moveTo>
                  <a:pt x="1" y="0"/>
                </a:moveTo>
                <a:lnTo>
                  <a:pt x="1" y="321"/>
                </a:lnTo>
                <a:lnTo>
                  <a:pt x="160009" y="321"/>
                </a:lnTo>
                <a:cubicBezTo>
                  <a:pt x="162676" y="321"/>
                  <a:pt x="165227" y="990"/>
                  <a:pt x="166833" y="2132"/>
                </a:cubicBezTo>
                <a:lnTo>
                  <a:pt x="175799" y="8448"/>
                </a:lnTo>
                <a:lnTo>
                  <a:pt x="175844" y="8475"/>
                </a:lnTo>
                <a:cubicBezTo>
                  <a:pt x="177440" y="9180"/>
                  <a:pt x="179465" y="9572"/>
                  <a:pt x="181535" y="9572"/>
                </a:cubicBezTo>
                <a:lnTo>
                  <a:pt x="241360" y="9572"/>
                </a:lnTo>
                <a:lnTo>
                  <a:pt x="241360" y="9260"/>
                </a:lnTo>
                <a:lnTo>
                  <a:pt x="181535" y="9260"/>
                </a:lnTo>
                <a:cubicBezTo>
                  <a:pt x="179617" y="9260"/>
                  <a:pt x="177735" y="8894"/>
                  <a:pt x="176254" y="8243"/>
                </a:cubicBezTo>
                <a:lnTo>
                  <a:pt x="167306" y="1936"/>
                </a:lnTo>
                <a:cubicBezTo>
                  <a:pt x="165593" y="723"/>
                  <a:pt x="162863" y="0"/>
                  <a:pt x="160009" y="0"/>
                </a:cubicBezTo>
                <a:close/>
              </a:path>
            </a:pathLst>
          </a:custGeom>
          <a:solidFill>
            <a:srgbClr val="0A5F85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5" name="Google Shape;465;p30"/>
          <p:cNvGrpSpPr/>
          <p:nvPr/>
        </p:nvGrpSpPr>
        <p:grpSpPr>
          <a:xfrm>
            <a:off x="-114051" y="-47376"/>
            <a:ext cx="9372344" cy="5238247"/>
            <a:chOff x="172550" y="816675"/>
            <a:chExt cx="7278925" cy="4068225"/>
          </a:xfrm>
        </p:grpSpPr>
        <p:sp>
          <p:nvSpPr>
            <p:cNvPr id="466" name="Google Shape;466;p30"/>
            <p:cNvSpPr/>
            <p:nvPr/>
          </p:nvSpPr>
          <p:spPr>
            <a:xfrm>
              <a:off x="172550" y="816675"/>
              <a:ext cx="4143175" cy="2365050"/>
            </a:xfrm>
            <a:custGeom>
              <a:avLst/>
              <a:gdLst/>
              <a:ahLst/>
              <a:cxnLst/>
              <a:rect l="l" t="t" r="r" b="b"/>
              <a:pathLst>
                <a:path w="165727" h="94602" extrusionOk="0">
                  <a:moveTo>
                    <a:pt x="0" y="1"/>
                  </a:moveTo>
                  <a:lnTo>
                    <a:pt x="0" y="16808"/>
                  </a:lnTo>
                  <a:lnTo>
                    <a:pt x="75606" y="92414"/>
                  </a:lnTo>
                  <a:cubicBezTo>
                    <a:pt x="77065" y="93872"/>
                    <a:pt x="78987" y="94601"/>
                    <a:pt x="80910" y="94601"/>
                  </a:cubicBezTo>
                  <a:cubicBezTo>
                    <a:pt x="82832" y="94601"/>
                    <a:pt x="84755" y="93872"/>
                    <a:pt x="86213" y="92414"/>
                  </a:cubicBezTo>
                  <a:lnTo>
                    <a:pt x="162809" y="15818"/>
                  </a:lnTo>
                  <a:cubicBezTo>
                    <a:pt x="165726" y="12901"/>
                    <a:pt x="165726" y="8128"/>
                    <a:pt x="162809" y="5211"/>
                  </a:cubicBezTo>
                  <a:lnTo>
                    <a:pt x="157599" y="1"/>
                  </a:lnTo>
                  <a:close/>
                </a:path>
              </a:pathLst>
            </a:custGeom>
            <a:solidFill>
              <a:srgbClr val="1D215B">
                <a:alpha val="70250"/>
              </a:srgbClr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0"/>
            <p:cNvSpPr/>
            <p:nvPr/>
          </p:nvSpPr>
          <p:spPr>
            <a:xfrm>
              <a:off x="172550" y="1638950"/>
              <a:ext cx="3326450" cy="3245950"/>
            </a:xfrm>
            <a:custGeom>
              <a:avLst/>
              <a:gdLst/>
              <a:ahLst/>
              <a:cxnLst/>
              <a:rect l="l" t="t" r="r" b="b"/>
              <a:pathLst>
                <a:path w="133058" h="129838" extrusionOk="0">
                  <a:moveTo>
                    <a:pt x="105" y="1"/>
                  </a:moveTo>
                  <a:cubicBezTo>
                    <a:pt x="70" y="1"/>
                    <a:pt x="35" y="1"/>
                    <a:pt x="0" y="2"/>
                  </a:cubicBezTo>
                  <a:lnTo>
                    <a:pt x="0" y="129838"/>
                  </a:lnTo>
                  <a:lnTo>
                    <a:pt x="133058" y="129838"/>
                  </a:lnTo>
                  <a:lnTo>
                    <a:pt x="5406" y="2187"/>
                  </a:lnTo>
                  <a:cubicBezTo>
                    <a:pt x="3943" y="724"/>
                    <a:pt x="2024" y="1"/>
                    <a:pt x="105" y="1"/>
                  </a:cubicBezTo>
                  <a:close/>
                </a:path>
              </a:pathLst>
            </a:custGeom>
            <a:solidFill>
              <a:srgbClr val="0A5F85">
                <a:alpha val="65820"/>
              </a:srgbClr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0"/>
            <p:cNvSpPr/>
            <p:nvPr/>
          </p:nvSpPr>
          <p:spPr>
            <a:xfrm>
              <a:off x="3545150" y="2495275"/>
              <a:ext cx="3906325" cy="2389625"/>
            </a:xfrm>
            <a:custGeom>
              <a:avLst/>
              <a:gdLst/>
              <a:ahLst/>
              <a:cxnLst/>
              <a:rect l="l" t="t" r="r" b="b"/>
              <a:pathLst>
                <a:path w="156253" h="95585" extrusionOk="0">
                  <a:moveTo>
                    <a:pt x="84816" y="1"/>
                  </a:moveTo>
                  <a:cubicBezTo>
                    <a:pt x="82895" y="1"/>
                    <a:pt x="80972" y="728"/>
                    <a:pt x="79514" y="2182"/>
                  </a:cubicBezTo>
                  <a:lnTo>
                    <a:pt x="2917" y="78787"/>
                  </a:lnTo>
                  <a:cubicBezTo>
                    <a:pt x="0" y="81695"/>
                    <a:pt x="0" y="86468"/>
                    <a:pt x="2917" y="89385"/>
                  </a:cubicBezTo>
                  <a:lnTo>
                    <a:pt x="9109" y="95585"/>
                  </a:lnTo>
                  <a:lnTo>
                    <a:pt x="156252" y="95585"/>
                  </a:lnTo>
                  <a:lnTo>
                    <a:pt x="156252" y="68322"/>
                  </a:lnTo>
                  <a:lnTo>
                    <a:pt x="90112" y="2182"/>
                  </a:lnTo>
                  <a:cubicBezTo>
                    <a:pt x="88658" y="728"/>
                    <a:pt x="86737" y="1"/>
                    <a:pt x="84816" y="1"/>
                  </a:cubicBezTo>
                  <a:close/>
                </a:path>
              </a:pathLst>
            </a:custGeom>
            <a:solidFill>
              <a:srgbClr val="0A5F85">
                <a:alpha val="62660"/>
              </a:srgbClr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1036550" y="1410550"/>
              <a:ext cx="5672700" cy="3474350"/>
            </a:xfrm>
            <a:custGeom>
              <a:avLst/>
              <a:gdLst/>
              <a:ahLst/>
              <a:cxnLst/>
              <a:rect l="l" t="t" r="r" b="b"/>
              <a:pathLst>
                <a:path w="226908" h="138974" extrusionOk="0">
                  <a:moveTo>
                    <a:pt x="142090" y="0"/>
                  </a:moveTo>
                  <a:cubicBezTo>
                    <a:pt x="140168" y="0"/>
                    <a:pt x="138245" y="730"/>
                    <a:pt x="136787" y="2188"/>
                  </a:cubicBezTo>
                  <a:lnTo>
                    <a:pt x="0" y="138974"/>
                  </a:lnTo>
                  <a:lnTo>
                    <a:pt x="174398" y="138974"/>
                  </a:lnTo>
                  <a:lnTo>
                    <a:pt x="223990" y="89382"/>
                  </a:lnTo>
                  <a:cubicBezTo>
                    <a:pt x="226907" y="86465"/>
                    <a:pt x="226907" y="81701"/>
                    <a:pt x="223990" y="78784"/>
                  </a:cubicBezTo>
                  <a:lnTo>
                    <a:pt x="147394" y="2188"/>
                  </a:lnTo>
                  <a:cubicBezTo>
                    <a:pt x="145935" y="730"/>
                    <a:pt x="144013" y="0"/>
                    <a:pt x="142090" y="0"/>
                  </a:cubicBezTo>
                  <a:close/>
                </a:path>
              </a:pathLst>
            </a:custGeom>
            <a:solidFill>
              <a:srgbClr val="2A377F">
                <a:alpha val="62660"/>
              </a:srgbClr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4529125" y="816675"/>
              <a:ext cx="2922350" cy="2922325"/>
            </a:xfrm>
            <a:custGeom>
              <a:avLst/>
              <a:gdLst/>
              <a:ahLst/>
              <a:cxnLst/>
              <a:rect l="l" t="t" r="r" b="b"/>
              <a:pathLst>
                <a:path w="116894" h="116893" extrusionOk="0">
                  <a:moveTo>
                    <a:pt x="1" y="1"/>
                  </a:moveTo>
                  <a:lnTo>
                    <a:pt x="116893" y="116893"/>
                  </a:lnTo>
                  <a:lnTo>
                    <a:pt x="116893" y="1"/>
                  </a:lnTo>
                  <a:close/>
                </a:path>
              </a:pathLst>
            </a:custGeom>
            <a:solidFill>
              <a:srgbClr val="2D6386"/>
            </a:solidFill>
            <a:ln>
              <a:noFill/>
            </a:ln>
            <a:effectLst>
              <a:outerShdw blurRad="171450" dist="57150" dir="3300000" algn="bl" rotWithShape="0">
                <a:srgbClr val="000000">
                  <a:alpha val="66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4529125" y="816675"/>
              <a:ext cx="2922350" cy="2922325"/>
            </a:xfrm>
            <a:custGeom>
              <a:avLst/>
              <a:gdLst/>
              <a:ahLst/>
              <a:cxnLst/>
              <a:rect l="l" t="t" r="r" b="b"/>
              <a:pathLst>
                <a:path w="116894" h="116893" extrusionOk="0">
                  <a:moveTo>
                    <a:pt x="1" y="1"/>
                  </a:moveTo>
                  <a:lnTo>
                    <a:pt x="116893" y="116893"/>
                  </a:lnTo>
                  <a:lnTo>
                    <a:pt x="116893" y="1"/>
                  </a:lnTo>
                  <a:close/>
                </a:path>
              </a:pathLst>
            </a:custGeom>
            <a:solidFill>
              <a:srgbClr val="154378">
                <a:alpha val="76580"/>
              </a:srgbClr>
            </a:solidFill>
            <a:ln>
              <a:noFill/>
            </a:ln>
            <a:effectLst>
              <a:outerShdw blurRad="500063" dist="28575" dir="6360000" algn="bl" rotWithShape="0">
                <a:srgbClr val="000000">
                  <a:alpha val="11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30"/>
          <p:cNvGrpSpPr/>
          <p:nvPr/>
        </p:nvGrpSpPr>
        <p:grpSpPr>
          <a:xfrm>
            <a:off x="-881649" y="2998856"/>
            <a:ext cx="2583769" cy="2583735"/>
            <a:chOff x="82300" y="284025"/>
            <a:chExt cx="1885275" cy="1885250"/>
          </a:xfrm>
        </p:grpSpPr>
        <p:sp>
          <p:nvSpPr>
            <p:cNvPr id="473" name="Google Shape;473;p30"/>
            <p:cNvSpPr/>
            <p:nvPr/>
          </p:nvSpPr>
          <p:spPr>
            <a:xfrm>
              <a:off x="82300" y="284025"/>
              <a:ext cx="1885275" cy="1885250"/>
            </a:xfrm>
            <a:custGeom>
              <a:avLst/>
              <a:gdLst/>
              <a:ahLst/>
              <a:cxnLst/>
              <a:rect l="l" t="t" r="r" b="b"/>
              <a:pathLst>
                <a:path w="75411" h="75410" extrusionOk="0">
                  <a:moveTo>
                    <a:pt x="37701" y="4907"/>
                  </a:moveTo>
                  <a:cubicBezTo>
                    <a:pt x="55820" y="4907"/>
                    <a:pt x="70513" y="19591"/>
                    <a:pt x="70513" y="37709"/>
                  </a:cubicBezTo>
                  <a:cubicBezTo>
                    <a:pt x="70513" y="55828"/>
                    <a:pt x="55820" y="70512"/>
                    <a:pt x="37701" y="70512"/>
                  </a:cubicBezTo>
                  <a:cubicBezTo>
                    <a:pt x="19591" y="70512"/>
                    <a:pt x="4898" y="55828"/>
                    <a:pt x="4898" y="37709"/>
                  </a:cubicBezTo>
                  <a:cubicBezTo>
                    <a:pt x="4898" y="19591"/>
                    <a:pt x="19591" y="4907"/>
                    <a:pt x="37701" y="4907"/>
                  </a:cubicBezTo>
                  <a:close/>
                  <a:moveTo>
                    <a:pt x="37701" y="0"/>
                  </a:moveTo>
                  <a:cubicBezTo>
                    <a:pt x="16879" y="0"/>
                    <a:pt x="1" y="16887"/>
                    <a:pt x="1" y="37709"/>
                  </a:cubicBezTo>
                  <a:cubicBezTo>
                    <a:pt x="1" y="58531"/>
                    <a:pt x="16879" y="75409"/>
                    <a:pt x="37701" y="75409"/>
                  </a:cubicBezTo>
                  <a:cubicBezTo>
                    <a:pt x="58532" y="75409"/>
                    <a:pt x="75410" y="58531"/>
                    <a:pt x="75410" y="37709"/>
                  </a:cubicBezTo>
                  <a:cubicBezTo>
                    <a:pt x="75410" y="16887"/>
                    <a:pt x="58532" y="0"/>
                    <a:pt x="37701" y="0"/>
                  </a:cubicBezTo>
                  <a:close/>
                </a:path>
              </a:pathLst>
            </a:custGeom>
            <a:solidFill>
              <a:srgbClr val="FFFFFF">
                <a:alpha val="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0"/>
            <p:cNvSpPr/>
            <p:nvPr/>
          </p:nvSpPr>
          <p:spPr>
            <a:xfrm>
              <a:off x="272550" y="474475"/>
              <a:ext cx="1504775" cy="1504550"/>
            </a:xfrm>
            <a:custGeom>
              <a:avLst/>
              <a:gdLst/>
              <a:ahLst/>
              <a:cxnLst/>
              <a:rect l="l" t="t" r="r" b="b"/>
              <a:pathLst>
                <a:path w="60191" h="60182" extrusionOk="0">
                  <a:moveTo>
                    <a:pt x="30091" y="3908"/>
                  </a:moveTo>
                  <a:cubicBezTo>
                    <a:pt x="44552" y="3908"/>
                    <a:pt x="56274" y="15630"/>
                    <a:pt x="56274" y="30091"/>
                  </a:cubicBezTo>
                  <a:cubicBezTo>
                    <a:pt x="56274" y="44552"/>
                    <a:pt x="44552" y="56274"/>
                    <a:pt x="30091" y="56274"/>
                  </a:cubicBezTo>
                  <a:cubicBezTo>
                    <a:pt x="15639" y="56274"/>
                    <a:pt x="3908" y="44552"/>
                    <a:pt x="3908" y="30091"/>
                  </a:cubicBezTo>
                  <a:cubicBezTo>
                    <a:pt x="3908" y="15630"/>
                    <a:pt x="15639" y="3908"/>
                    <a:pt x="30091" y="3908"/>
                  </a:cubicBezTo>
                  <a:close/>
                  <a:moveTo>
                    <a:pt x="30091" y="1"/>
                  </a:moveTo>
                  <a:cubicBezTo>
                    <a:pt x="13471" y="1"/>
                    <a:pt x="0" y="13471"/>
                    <a:pt x="0" y="30091"/>
                  </a:cubicBezTo>
                  <a:cubicBezTo>
                    <a:pt x="0" y="46711"/>
                    <a:pt x="13471" y="60182"/>
                    <a:pt x="30091" y="60182"/>
                  </a:cubicBezTo>
                  <a:cubicBezTo>
                    <a:pt x="46711" y="60182"/>
                    <a:pt x="60191" y="46711"/>
                    <a:pt x="60191" y="30091"/>
                  </a:cubicBezTo>
                  <a:cubicBezTo>
                    <a:pt x="60191" y="13471"/>
                    <a:pt x="46711" y="1"/>
                    <a:pt x="30091" y="1"/>
                  </a:cubicBezTo>
                  <a:close/>
                </a:path>
              </a:pathLst>
            </a:custGeom>
            <a:solidFill>
              <a:srgbClr val="FFFFFF">
                <a:alpha val="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75" name="Google Shape;475;p30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7677050" y="481550"/>
            <a:ext cx="795848" cy="7958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6" name="Google Shape;476;p30"/>
          <p:cNvGrpSpPr/>
          <p:nvPr/>
        </p:nvGrpSpPr>
        <p:grpSpPr>
          <a:xfrm rot="10800000" flipH="1">
            <a:off x="-383924" y="-390131"/>
            <a:ext cx="9662974" cy="1472410"/>
            <a:chOff x="-326774" y="3899694"/>
            <a:chExt cx="9662974" cy="1472410"/>
          </a:xfrm>
        </p:grpSpPr>
        <p:sp>
          <p:nvSpPr>
            <p:cNvPr id="477" name="Google Shape;477;p30"/>
            <p:cNvSpPr/>
            <p:nvPr/>
          </p:nvSpPr>
          <p:spPr>
            <a:xfrm>
              <a:off x="5590140" y="4512637"/>
              <a:ext cx="268795" cy="268795"/>
            </a:xfrm>
            <a:custGeom>
              <a:avLst/>
              <a:gdLst/>
              <a:ahLst/>
              <a:cxnLst/>
              <a:rect l="l" t="t" r="r" b="b"/>
              <a:pathLst>
                <a:path w="6674" h="6674" extrusionOk="0">
                  <a:moveTo>
                    <a:pt x="3337" y="527"/>
                  </a:moveTo>
                  <a:cubicBezTo>
                    <a:pt x="4889" y="527"/>
                    <a:pt x="6147" y="1785"/>
                    <a:pt x="6147" y="3337"/>
                  </a:cubicBezTo>
                  <a:cubicBezTo>
                    <a:pt x="6147" y="4890"/>
                    <a:pt x="4889" y="6156"/>
                    <a:pt x="3337" y="6156"/>
                  </a:cubicBezTo>
                  <a:cubicBezTo>
                    <a:pt x="1785" y="6156"/>
                    <a:pt x="518" y="4890"/>
                    <a:pt x="518" y="3337"/>
                  </a:cubicBezTo>
                  <a:cubicBezTo>
                    <a:pt x="518" y="1785"/>
                    <a:pt x="1785" y="527"/>
                    <a:pt x="3337" y="527"/>
                  </a:cubicBezTo>
                  <a:close/>
                  <a:moveTo>
                    <a:pt x="3337" y="1"/>
                  </a:moveTo>
                  <a:cubicBezTo>
                    <a:pt x="1499" y="1"/>
                    <a:pt x="1" y="1500"/>
                    <a:pt x="1" y="3337"/>
                  </a:cubicBezTo>
                  <a:cubicBezTo>
                    <a:pt x="1" y="5175"/>
                    <a:pt x="1499" y="6674"/>
                    <a:pt x="3337" y="6674"/>
                  </a:cubicBezTo>
                  <a:cubicBezTo>
                    <a:pt x="5175" y="6674"/>
                    <a:pt x="6674" y="5175"/>
                    <a:pt x="6674" y="3337"/>
                  </a:cubicBezTo>
                  <a:cubicBezTo>
                    <a:pt x="6674" y="1500"/>
                    <a:pt x="5175" y="1"/>
                    <a:pt x="3337" y="1"/>
                  </a:cubicBezTo>
                  <a:close/>
                </a:path>
              </a:pathLst>
            </a:custGeom>
            <a:solidFill>
              <a:srgbClr val="0A5F85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/>
            <p:cNvSpPr/>
            <p:nvPr/>
          </p:nvSpPr>
          <p:spPr>
            <a:xfrm>
              <a:off x="5659132" y="4581627"/>
              <a:ext cx="130813" cy="130813"/>
            </a:xfrm>
            <a:custGeom>
              <a:avLst/>
              <a:gdLst/>
              <a:ahLst/>
              <a:cxnLst/>
              <a:rect l="l" t="t" r="r" b="b"/>
              <a:pathLst>
                <a:path w="3248" h="3248" extrusionOk="0">
                  <a:moveTo>
                    <a:pt x="1624" y="1"/>
                  </a:moveTo>
                  <a:cubicBezTo>
                    <a:pt x="723" y="1"/>
                    <a:pt x="0" y="732"/>
                    <a:pt x="0" y="1624"/>
                  </a:cubicBezTo>
                  <a:cubicBezTo>
                    <a:pt x="0" y="2525"/>
                    <a:pt x="723" y="3248"/>
                    <a:pt x="1624" y="3248"/>
                  </a:cubicBezTo>
                  <a:cubicBezTo>
                    <a:pt x="2516" y="3248"/>
                    <a:pt x="3248" y="2525"/>
                    <a:pt x="3248" y="1624"/>
                  </a:cubicBezTo>
                  <a:cubicBezTo>
                    <a:pt x="3248" y="732"/>
                    <a:pt x="2516" y="1"/>
                    <a:pt x="1624" y="1"/>
                  </a:cubicBezTo>
                  <a:close/>
                </a:path>
              </a:pathLst>
            </a:custGeom>
            <a:solidFill>
              <a:srgbClr val="0A5F85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/>
            <p:cNvSpPr/>
            <p:nvPr/>
          </p:nvSpPr>
          <p:spPr>
            <a:xfrm>
              <a:off x="5714832" y="4781028"/>
              <a:ext cx="1162337" cy="591076"/>
            </a:xfrm>
            <a:custGeom>
              <a:avLst/>
              <a:gdLst/>
              <a:ahLst/>
              <a:cxnLst/>
              <a:rect l="l" t="t" r="r" b="b"/>
              <a:pathLst>
                <a:path w="28860" h="14676" extrusionOk="0">
                  <a:moveTo>
                    <a:pt x="0" y="1"/>
                  </a:moveTo>
                  <a:lnTo>
                    <a:pt x="0" y="6656"/>
                  </a:lnTo>
                  <a:cubicBezTo>
                    <a:pt x="0" y="10215"/>
                    <a:pt x="2900" y="13106"/>
                    <a:pt x="6459" y="13106"/>
                  </a:cubicBezTo>
                  <a:lnTo>
                    <a:pt x="25746" y="13106"/>
                  </a:lnTo>
                  <a:cubicBezTo>
                    <a:pt x="26861" y="13106"/>
                    <a:pt x="27816" y="13748"/>
                    <a:pt x="28280" y="14676"/>
                  </a:cubicBezTo>
                  <a:lnTo>
                    <a:pt x="28860" y="14676"/>
                  </a:lnTo>
                  <a:cubicBezTo>
                    <a:pt x="28351" y="13454"/>
                    <a:pt x="27147" y="12588"/>
                    <a:pt x="25746" y="12588"/>
                  </a:cubicBezTo>
                  <a:lnTo>
                    <a:pt x="6459" y="12588"/>
                  </a:lnTo>
                  <a:cubicBezTo>
                    <a:pt x="3185" y="12588"/>
                    <a:pt x="518" y="9930"/>
                    <a:pt x="518" y="6656"/>
                  </a:cubicBezTo>
                  <a:lnTo>
                    <a:pt x="518" y="1"/>
                  </a:lnTo>
                  <a:cubicBezTo>
                    <a:pt x="428" y="1"/>
                    <a:pt x="330" y="10"/>
                    <a:pt x="241" y="10"/>
                  </a:cubicBezTo>
                  <a:cubicBezTo>
                    <a:pt x="161" y="10"/>
                    <a:pt x="80" y="1"/>
                    <a:pt x="0" y="1"/>
                  </a:cubicBezTo>
                  <a:close/>
                </a:path>
              </a:pathLst>
            </a:custGeom>
            <a:solidFill>
              <a:srgbClr val="0A5F85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/>
            <p:cNvSpPr/>
            <p:nvPr/>
          </p:nvSpPr>
          <p:spPr>
            <a:xfrm>
              <a:off x="-299830" y="3899694"/>
              <a:ext cx="6035491" cy="613348"/>
            </a:xfrm>
            <a:custGeom>
              <a:avLst/>
              <a:gdLst/>
              <a:ahLst/>
              <a:cxnLst/>
              <a:rect l="l" t="t" r="r" b="b"/>
              <a:pathLst>
                <a:path w="149857" h="15229" extrusionOk="0">
                  <a:moveTo>
                    <a:pt x="1" y="1"/>
                  </a:moveTo>
                  <a:lnTo>
                    <a:pt x="1" y="518"/>
                  </a:lnTo>
                  <a:lnTo>
                    <a:pt x="143960" y="518"/>
                  </a:lnTo>
                  <a:cubicBezTo>
                    <a:pt x="146922" y="518"/>
                    <a:pt x="149339" y="2936"/>
                    <a:pt x="149339" y="5906"/>
                  </a:cubicBezTo>
                  <a:lnTo>
                    <a:pt x="149339" y="15229"/>
                  </a:lnTo>
                  <a:cubicBezTo>
                    <a:pt x="149419" y="15229"/>
                    <a:pt x="149500" y="15220"/>
                    <a:pt x="149580" y="15220"/>
                  </a:cubicBezTo>
                  <a:cubicBezTo>
                    <a:pt x="149669" y="15220"/>
                    <a:pt x="149767" y="15229"/>
                    <a:pt x="149857" y="15229"/>
                  </a:cubicBezTo>
                  <a:lnTo>
                    <a:pt x="149857" y="5906"/>
                  </a:lnTo>
                  <a:cubicBezTo>
                    <a:pt x="149857" y="2641"/>
                    <a:pt x="147216" y="1"/>
                    <a:pt x="143960" y="1"/>
                  </a:cubicBezTo>
                  <a:close/>
                </a:path>
              </a:pathLst>
            </a:custGeom>
            <a:solidFill>
              <a:srgbClr val="0A5F85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0"/>
            <p:cNvSpPr/>
            <p:nvPr/>
          </p:nvSpPr>
          <p:spPr>
            <a:xfrm>
              <a:off x="5858172" y="4632293"/>
              <a:ext cx="3478028" cy="586042"/>
            </a:xfrm>
            <a:custGeom>
              <a:avLst/>
              <a:gdLst/>
              <a:ahLst/>
              <a:cxnLst/>
              <a:rect l="l" t="t" r="r" b="b"/>
              <a:pathLst>
                <a:path w="86357" h="14551" extrusionOk="0">
                  <a:moveTo>
                    <a:pt x="1" y="1"/>
                  </a:moveTo>
                  <a:lnTo>
                    <a:pt x="10" y="518"/>
                  </a:lnTo>
                  <a:lnTo>
                    <a:pt x="26630" y="518"/>
                  </a:lnTo>
                  <a:cubicBezTo>
                    <a:pt x="28896" y="518"/>
                    <a:pt x="31135" y="1267"/>
                    <a:pt x="32946" y="2623"/>
                  </a:cubicBezTo>
                  <a:lnTo>
                    <a:pt x="46346" y="12677"/>
                  </a:lnTo>
                  <a:cubicBezTo>
                    <a:pt x="47960" y="13891"/>
                    <a:pt x="49959" y="14551"/>
                    <a:pt x="51984" y="14551"/>
                  </a:cubicBezTo>
                  <a:lnTo>
                    <a:pt x="86356" y="14551"/>
                  </a:lnTo>
                  <a:lnTo>
                    <a:pt x="86356" y="14033"/>
                  </a:lnTo>
                  <a:lnTo>
                    <a:pt x="51984" y="14033"/>
                  </a:lnTo>
                  <a:cubicBezTo>
                    <a:pt x="50075" y="14033"/>
                    <a:pt x="48183" y="13400"/>
                    <a:pt x="46658" y="12258"/>
                  </a:cubicBezTo>
                  <a:lnTo>
                    <a:pt x="33258" y="2213"/>
                  </a:lnTo>
                  <a:cubicBezTo>
                    <a:pt x="31358" y="786"/>
                    <a:pt x="29003" y="1"/>
                    <a:pt x="26630" y="1"/>
                  </a:cubicBezTo>
                  <a:close/>
                </a:path>
              </a:pathLst>
            </a:custGeom>
            <a:solidFill>
              <a:srgbClr val="0A5F85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0"/>
            <p:cNvSpPr/>
            <p:nvPr/>
          </p:nvSpPr>
          <p:spPr>
            <a:xfrm>
              <a:off x="-326774" y="4632293"/>
              <a:ext cx="5917646" cy="20862"/>
            </a:xfrm>
            <a:custGeom>
              <a:avLst/>
              <a:gdLst/>
              <a:ahLst/>
              <a:cxnLst/>
              <a:rect l="l" t="t" r="r" b="b"/>
              <a:pathLst>
                <a:path w="146931" h="518" extrusionOk="0">
                  <a:moveTo>
                    <a:pt x="1" y="1"/>
                  </a:moveTo>
                  <a:lnTo>
                    <a:pt x="1" y="518"/>
                  </a:lnTo>
                  <a:lnTo>
                    <a:pt x="146922" y="518"/>
                  </a:lnTo>
                  <a:lnTo>
                    <a:pt x="146930" y="1"/>
                  </a:lnTo>
                  <a:close/>
                </a:path>
              </a:pathLst>
            </a:custGeom>
            <a:solidFill>
              <a:srgbClr val="0A5F85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30"/>
          <p:cNvGrpSpPr/>
          <p:nvPr/>
        </p:nvGrpSpPr>
        <p:grpSpPr>
          <a:xfrm flipH="1">
            <a:off x="4630041" y="3249163"/>
            <a:ext cx="9011469" cy="2028639"/>
            <a:chOff x="605875" y="2133200"/>
            <a:chExt cx="5887925" cy="1325475"/>
          </a:xfrm>
        </p:grpSpPr>
        <p:sp>
          <p:nvSpPr>
            <p:cNvPr id="484" name="Google Shape;484;p30"/>
            <p:cNvSpPr/>
            <p:nvPr/>
          </p:nvSpPr>
          <p:spPr>
            <a:xfrm>
              <a:off x="4332425" y="2680275"/>
              <a:ext cx="2161375" cy="778400"/>
            </a:xfrm>
            <a:custGeom>
              <a:avLst/>
              <a:gdLst/>
              <a:ahLst/>
              <a:cxnLst/>
              <a:rect l="l" t="t" r="r" b="b"/>
              <a:pathLst>
                <a:path w="86455" h="31136" extrusionOk="0">
                  <a:moveTo>
                    <a:pt x="1" y="1"/>
                  </a:moveTo>
                  <a:lnTo>
                    <a:pt x="1" y="6665"/>
                  </a:lnTo>
                  <a:cubicBezTo>
                    <a:pt x="1" y="10224"/>
                    <a:pt x="2900" y="13115"/>
                    <a:pt x="6459" y="13115"/>
                  </a:cubicBezTo>
                  <a:lnTo>
                    <a:pt x="25747" y="13115"/>
                  </a:lnTo>
                  <a:cubicBezTo>
                    <a:pt x="27317" y="13115"/>
                    <a:pt x="28584" y="14390"/>
                    <a:pt x="28584" y="15952"/>
                  </a:cubicBezTo>
                  <a:lnTo>
                    <a:pt x="28584" y="25096"/>
                  </a:lnTo>
                  <a:cubicBezTo>
                    <a:pt x="28584" y="28432"/>
                    <a:pt x="31296" y="31135"/>
                    <a:pt x="34623" y="31135"/>
                  </a:cubicBezTo>
                  <a:lnTo>
                    <a:pt x="86454" y="31135"/>
                  </a:lnTo>
                  <a:lnTo>
                    <a:pt x="86454" y="30618"/>
                  </a:lnTo>
                  <a:lnTo>
                    <a:pt x="34623" y="30618"/>
                  </a:lnTo>
                  <a:cubicBezTo>
                    <a:pt x="31581" y="30618"/>
                    <a:pt x="29110" y="28147"/>
                    <a:pt x="29110" y="25096"/>
                  </a:cubicBezTo>
                  <a:lnTo>
                    <a:pt x="29110" y="15952"/>
                  </a:lnTo>
                  <a:cubicBezTo>
                    <a:pt x="29110" y="14105"/>
                    <a:pt x="27602" y="12597"/>
                    <a:pt x="25747" y="12597"/>
                  </a:cubicBezTo>
                  <a:lnTo>
                    <a:pt x="6459" y="12597"/>
                  </a:lnTo>
                  <a:cubicBezTo>
                    <a:pt x="3185" y="12597"/>
                    <a:pt x="518" y="9939"/>
                    <a:pt x="518" y="6665"/>
                  </a:cubicBezTo>
                  <a:lnTo>
                    <a:pt x="518" y="1"/>
                  </a:lnTo>
                  <a:cubicBezTo>
                    <a:pt x="429" y="10"/>
                    <a:pt x="331" y="10"/>
                    <a:pt x="241" y="10"/>
                  </a:cubicBezTo>
                  <a:cubicBezTo>
                    <a:pt x="161" y="10"/>
                    <a:pt x="81" y="10"/>
                    <a:pt x="1" y="1"/>
                  </a:cubicBezTo>
                  <a:close/>
                </a:path>
              </a:pathLst>
            </a:custGeom>
            <a:solidFill>
              <a:srgbClr val="0A5F85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5" name="Google Shape;485;p30"/>
            <p:cNvGrpSpPr/>
            <p:nvPr/>
          </p:nvGrpSpPr>
          <p:grpSpPr>
            <a:xfrm>
              <a:off x="605875" y="2133200"/>
              <a:ext cx="3816000" cy="713700"/>
              <a:chOff x="605875" y="2133200"/>
              <a:chExt cx="3816000" cy="713700"/>
            </a:xfrm>
          </p:grpSpPr>
          <p:sp>
            <p:nvSpPr>
              <p:cNvPr id="486" name="Google Shape;486;p30"/>
              <p:cNvSpPr/>
              <p:nvPr/>
            </p:nvSpPr>
            <p:spPr>
              <a:xfrm>
                <a:off x="4255025" y="2513900"/>
                <a:ext cx="166850" cy="166850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6674" extrusionOk="0">
                    <a:moveTo>
                      <a:pt x="3337" y="518"/>
                    </a:moveTo>
                    <a:cubicBezTo>
                      <a:pt x="4890" y="518"/>
                      <a:pt x="6148" y="1785"/>
                      <a:pt x="6148" y="3337"/>
                    </a:cubicBezTo>
                    <a:cubicBezTo>
                      <a:pt x="6148" y="4889"/>
                      <a:pt x="4890" y="6147"/>
                      <a:pt x="3337" y="6147"/>
                    </a:cubicBezTo>
                    <a:cubicBezTo>
                      <a:pt x="1785" y="6147"/>
                      <a:pt x="518" y="4889"/>
                      <a:pt x="518" y="3337"/>
                    </a:cubicBezTo>
                    <a:cubicBezTo>
                      <a:pt x="518" y="1785"/>
                      <a:pt x="1785" y="518"/>
                      <a:pt x="3337" y="518"/>
                    </a:cubicBezTo>
                    <a:close/>
                    <a:moveTo>
                      <a:pt x="3337" y="1"/>
                    </a:moveTo>
                    <a:cubicBezTo>
                      <a:pt x="1500" y="1"/>
                      <a:pt x="1" y="1499"/>
                      <a:pt x="1" y="3337"/>
                    </a:cubicBezTo>
                    <a:cubicBezTo>
                      <a:pt x="1" y="5175"/>
                      <a:pt x="1500" y="6674"/>
                      <a:pt x="3337" y="6674"/>
                    </a:cubicBezTo>
                    <a:cubicBezTo>
                      <a:pt x="5175" y="6674"/>
                      <a:pt x="6674" y="5175"/>
                      <a:pt x="6674" y="3337"/>
                    </a:cubicBezTo>
                    <a:cubicBezTo>
                      <a:pt x="6674" y="1499"/>
                      <a:pt x="5175" y="1"/>
                      <a:pt x="3337" y="1"/>
                    </a:cubicBezTo>
                    <a:close/>
                  </a:path>
                </a:pathLst>
              </a:custGeom>
              <a:solidFill>
                <a:srgbClr val="0A5F85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30"/>
              <p:cNvSpPr/>
              <p:nvPr/>
            </p:nvSpPr>
            <p:spPr>
              <a:xfrm>
                <a:off x="4297850" y="2556725"/>
                <a:ext cx="81225" cy="81200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248" extrusionOk="0">
                    <a:moveTo>
                      <a:pt x="1624" y="1"/>
                    </a:moveTo>
                    <a:cubicBezTo>
                      <a:pt x="723" y="1"/>
                      <a:pt x="1" y="723"/>
                      <a:pt x="1" y="1624"/>
                    </a:cubicBezTo>
                    <a:cubicBezTo>
                      <a:pt x="1" y="2516"/>
                      <a:pt x="723" y="3248"/>
                      <a:pt x="1624" y="3248"/>
                    </a:cubicBezTo>
                    <a:cubicBezTo>
                      <a:pt x="2517" y="3248"/>
                      <a:pt x="3248" y="2516"/>
                      <a:pt x="3248" y="1624"/>
                    </a:cubicBezTo>
                    <a:cubicBezTo>
                      <a:pt x="3248" y="723"/>
                      <a:pt x="2517" y="1"/>
                      <a:pt x="1624" y="1"/>
                    </a:cubicBezTo>
                    <a:close/>
                  </a:path>
                </a:pathLst>
              </a:custGeom>
              <a:solidFill>
                <a:srgbClr val="0A5F85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30"/>
              <p:cNvSpPr/>
              <p:nvPr/>
            </p:nvSpPr>
            <p:spPr>
              <a:xfrm>
                <a:off x="4345350" y="2680275"/>
                <a:ext cx="25" cy="166625"/>
              </a:xfrm>
              <a:custGeom>
                <a:avLst/>
                <a:gdLst/>
                <a:ahLst/>
                <a:cxnLst/>
                <a:rect l="l" t="t" r="r" b="b"/>
                <a:pathLst>
                  <a:path w="1" h="6665" extrusionOk="0">
                    <a:moveTo>
                      <a:pt x="1" y="1"/>
                    </a:moveTo>
                    <a:lnTo>
                      <a:pt x="1" y="6665"/>
                    </a:lnTo>
                  </a:path>
                </a:pathLst>
              </a:custGeom>
              <a:solidFill>
                <a:srgbClr val="0A5F85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30"/>
              <p:cNvSpPr/>
              <p:nvPr/>
            </p:nvSpPr>
            <p:spPr>
              <a:xfrm>
                <a:off x="605875" y="2133200"/>
                <a:ext cx="3739500" cy="380950"/>
              </a:xfrm>
              <a:custGeom>
                <a:avLst/>
                <a:gdLst/>
                <a:ahLst/>
                <a:cxnLst/>
                <a:rect l="l" t="t" r="r" b="b"/>
                <a:pathLst>
                  <a:path w="149580" h="15238" extrusionOk="0">
                    <a:moveTo>
                      <a:pt x="1" y="1"/>
                    </a:moveTo>
                    <a:lnTo>
                      <a:pt x="1" y="527"/>
                    </a:lnTo>
                    <a:lnTo>
                      <a:pt x="143683" y="527"/>
                    </a:lnTo>
                    <a:cubicBezTo>
                      <a:pt x="146645" y="527"/>
                      <a:pt x="149063" y="2944"/>
                      <a:pt x="149063" y="5906"/>
                    </a:cubicBezTo>
                    <a:lnTo>
                      <a:pt x="149063" y="15238"/>
                    </a:lnTo>
                    <a:cubicBezTo>
                      <a:pt x="149143" y="15238"/>
                      <a:pt x="149223" y="15229"/>
                      <a:pt x="149303" y="15229"/>
                    </a:cubicBezTo>
                    <a:cubicBezTo>
                      <a:pt x="149393" y="15229"/>
                      <a:pt x="149491" y="15238"/>
                      <a:pt x="149580" y="15238"/>
                    </a:cubicBezTo>
                    <a:lnTo>
                      <a:pt x="149580" y="5906"/>
                    </a:lnTo>
                    <a:cubicBezTo>
                      <a:pt x="149580" y="2650"/>
                      <a:pt x="146939" y="1"/>
                      <a:pt x="143683" y="1"/>
                    </a:cubicBezTo>
                    <a:close/>
                  </a:path>
                </a:pathLst>
              </a:custGeom>
              <a:solidFill>
                <a:srgbClr val="0A5F85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30"/>
              <p:cNvSpPr/>
              <p:nvPr/>
            </p:nvSpPr>
            <p:spPr>
              <a:xfrm>
                <a:off x="605875" y="2588175"/>
                <a:ext cx="364962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145985" h="518" extrusionOk="0">
                    <a:moveTo>
                      <a:pt x="1" y="0"/>
                    </a:moveTo>
                    <a:lnTo>
                      <a:pt x="1" y="518"/>
                    </a:lnTo>
                    <a:lnTo>
                      <a:pt x="145967" y="518"/>
                    </a:lnTo>
                    <a:lnTo>
                      <a:pt x="145985" y="0"/>
                    </a:lnTo>
                    <a:close/>
                  </a:path>
                </a:pathLst>
              </a:custGeom>
              <a:solidFill>
                <a:srgbClr val="0A5F85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91" name="Google Shape;491;p30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482925" y="2076451"/>
            <a:ext cx="990602" cy="9906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2" name="Google Shape;492;p30"/>
          <p:cNvGrpSpPr/>
          <p:nvPr/>
        </p:nvGrpSpPr>
        <p:grpSpPr>
          <a:xfrm>
            <a:off x="713220" y="790818"/>
            <a:ext cx="795862" cy="557722"/>
            <a:chOff x="4497621" y="4252575"/>
            <a:chExt cx="678947" cy="475790"/>
          </a:xfrm>
        </p:grpSpPr>
        <p:sp>
          <p:nvSpPr>
            <p:cNvPr id="493" name="Google Shape;493;p30"/>
            <p:cNvSpPr/>
            <p:nvPr/>
          </p:nvSpPr>
          <p:spPr>
            <a:xfrm>
              <a:off x="4497621" y="4252575"/>
              <a:ext cx="328867" cy="475790"/>
            </a:xfrm>
            <a:custGeom>
              <a:avLst/>
              <a:gdLst/>
              <a:ahLst/>
              <a:cxnLst/>
              <a:rect l="l" t="t" r="r" b="b"/>
              <a:pathLst>
                <a:path w="8405" h="12160" extrusionOk="0">
                  <a:moveTo>
                    <a:pt x="0" y="0"/>
                  </a:moveTo>
                  <a:lnTo>
                    <a:pt x="4104" y="6085"/>
                  </a:lnTo>
                  <a:lnTo>
                    <a:pt x="0" y="12160"/>
                  </a:lnTo>
                  <a:lnTo>
                    <a:pt x="4300" y="12160"/>
                  </a:lnTo>
                  <a:lnTo>
                    <a:pt x="8395" y="6085"/>
                  </a:lnTo>
                  <a:lnTo>
                    <a:pt x="8404" y="6085"/>
                  </a:lnTo>
                  <a:lnTo>
                    <a:pt x="8404" y="6076"/>
                  </a:lnTo>
                  <a:lnTo>
                    <a:pt x="8395" y="6076"/>
                  </a:lnTo>
                  <a:lnTo>
                    <a:pt x="4300" y="0"/>
                  </a:lnTo>
                  <a:close/>
                </a:path>
              </a:pathLst>
            </a:custGeom>
            <a:solidFill>
              <a:srgbClr val="FFFFFF">
                <a:alpha val="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0"/>
            <p:cNvSpPr/>
            <p:nvPr/>
          </p:nvSpPr>
          <p:spPr>
            <a:xfrm>
              <a:off x="4847741" y="4252575"/>
              <a:ext cx="328828" cy="475790"/>
            </a:xfrm>
            <a:custGeom>
              <a:avLst/>
              <a:gdLst/>
              <a:ahLst/>
              <a:cxnLst/>
              <a:rect l="l" t="t" r="r" b="b"/>
              <a:pathLst>
                <a:path w="8404" h="12160" extrusionOk="0">
                  <a:moveTo>
                    <a:pt x="0" y="0"/>
                  </a:moveTo>
                  <a:lnTo>
                    <a:pt x="4095" y="6085"/>
                  </a:lnTo>
                  <a:lnTo>
                    <a:pt x="0" y="12160"/>
                  </a:lnTo>
                  <a:lnTo>
                    <a:pt x="4300" y="12160"/>
                  </a:lnTo>
                  <a:lnTo>
                    <a:pt x="8395" y="6085"/>
                  </a:lnTo>
                  <a:lnTo>
                    <a:pt x="8404" y="6076"/>
                  </a:lnTo>
                  <a:lnTo>
                    <a:pt x="8395" y="6076"/>
                  </a:lnTo>
                  <a:lnTo>
                    <a:pt x="4300" y="0"/>
                  </a:lnTo>
                  <a:close/>
                </a:path>
              </a:pathLst>
            </a:custGeom>
            <a:solidFill>
              <a:srgbClr val="FFFFFF">
                <a:alpha val="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1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/>
              <a:buChar char="●"/>
              <a:defRPr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/>
              <a:buChar char="○"/>
              <a:defRPr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/>
              <a:buChar char="■"/>
              <a:defRPr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/>
              <a:buChar char="●"/>
              <a:defRPr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/>
              <a:buChar char="○"/>
              <a:defRPr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/>
              <a:buChar char="■"/>
              <a:defRPr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/>
              <a:buChar char="●"/>
              <a:defRPr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/>
              <a:buChar char="○"/>
              <a:defRPr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/>
              <a:buChar char="■"/>
              <a:defRPr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endParaRPr/>
          </a:p>
        </p:txBody>
      </p:sp>
      <p:sp>
        <p:nvSpPr>
          <p:cNvPr id="3" name="MSIPCMContentMarking" descr="{&quot;HashCode&quot;:-1230239927,&quot;Placement&quot;:&quot;Footer&quot;}">
            <a:extLst>
              <a:ext uri="{FF2B5EF4-FFF2-40B4-BE49-F238E27FC236}">
                <a16:creationId xmlns:a16="http://schemas.microsoft.com/office/drawing/2014/main" id="{040104AF-8CA4-43BF-A788-6E5021054193}"/>
              </a:ext>
            </a:extLst>
          </p:cNvPr>
          <p:cNvSpPr txBox="1"/>
          <p:nvPr userDrawn="1"/>
        </p:nvSpPr>
        <p:spPr>
          <a:xfrm>
            <a:off x="0" y="4941957"/>
            <a:ext cx="2485381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sz="1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MSIPCMContentMarking" descr="{&quot;HashCode&quot;:1570744882,&quot;Placement&quot;:&quot;Footer&quot;}">
            <a:extLst>
              <a:ext uri="{FF2B5EF4-FFF2-40B4-BE49-F238E27FC236}">
                <a16:creationId xmlns:a16="http://schemas.microsoft.com/office/drawing/2014/main" id="{D204E2A2-A584-4161-A5CF-7A06474218BE}"/>
              </a:ext>
            </a:extLst>
          </p:cNvPr>
          <p:cNvSpPr txBox="1"/>
          <p:nvPr userDrawn="1"/>
        </p:nvSpPr>
        <p:spPr>
          <a:xfrm>
            <a:off x="0" y="4894302"/>
            <a:ext cx="1511302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Saudi Aramco: Public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5" r:id="rId4"/>
    <p:sldLayoutId id="2147483676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1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497" name="Google Shape;497;p31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3" name="MSIPCMContentMarking" descr="{&quot;HashCode&quot;:-1230239927,&quot;Placement&quot;:&quot;Footer&quot;}">
            <a:extLst>
              <a:ext uri="{FF2B5EF4-FFF2-40B4-BE49-F238E27FC236}">
                <a16:creationId xmlns:a16="http://schemas.microsoft.com/office/drawing/2014/main" id="{10C1D531-B06B-4686-89AF-0CFEF1118643}"/>
              </a:ext>
            </a:extLst>
          </p:cNvPr>
          <p:cNvSpPr txBox="1"/>
          <p:nvPr userDrawn="1"/>
        </p:nvSpPr>
        <p:spPr>
          <a:xfrm>
            <a:off x="0" y="4941957"/>
            <a:ext cx="2485381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sz="10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MSIPCMContentMarking" descr="{&quot;HashCode&quot;:1570744882,&quot;Placement&quot;:&quot;Footer&quot;}">
            <a:extLst>
              <a:ext uri="{FF2B5EF4-FFF2-40B4-BE49-F238E27FC236}">
                <a16:creationId xmlns:a16="http://schemas.microsoft.com/office/drawing/2014/main" id="{18D14444-2514-4496-9C7E-7FB83C2353CC}"/>
              </a:ext>
            </a:extLst>
          </p:cNvPr>
          <p:cNvSpPr txBox="1"/>
          <p:nvPr userDrawn="1"/>
        </p:nvSpPr>
        <p:spPr>
          <a:xfrm>
            <a:off x="0" y="4894302"/>
            <a:ext cx="1511302" cy="24919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Saudi Aramco: Public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5" name="Google Shape;505;p34"/>
          <p:cNvGrpSpPr/>
          <p:nvPr/>
        </p:nvGrpSpPr>
        <p:grpSpPr>
          <a:xfrm>
            <a:off x="-881649" y="2998856"/>
            <a:ext cx="2583769" cy="2583735"/>
            <a:chOff x="82300" y="284025"/>
            <a:chExt cx="1885275" cy="1885250"/>
          </a:xfrm>
        </p:grpSpPr>
        <p:sp>
          <p:nvSpPr>
            <p:cNvPr id="506" name="Google Shape;506;p34"/>
            <p:cNvSpPr/>
            <p:nvPr/>
          </p:nvSpPr>
          <p:spPr>
            <a:xfrm>
              <a:off x="82300" y="284025"/>
              <a:ext cx="1885275" cy="1885250"/>
            </a:xfrm>
            <a:custGeom>
              <a:avLst/>
              <a:gdLst/>
              <a:ahLst/>
              <a:cxnLst/>
              <a:rect l="l" t="t" r="r" b="b"/>
              <a:pathLst>
                <a:path w="75411" h="75410" extrusionOk="0">
                  <a:moveTo>
                    <a:pt x="37701" y="4907"/>
                  </a:moveTo>
                  <a:cubicBezTo>
                    <a:pt x="55820" y="4907"/>
                    <a:pt x="70513" y="19591"/>
                    <a:pt x="70513" y="37709"/>
                  </a:cubicBezTo>
                  <a:cubicBezTo>
                    <a:pt x="70513" y="55828"/>
                    <a:pt x="55820" y="70512"/>
                    <a:pt x="37701" y="70512"/>
                  </a:cubicBezTo>
                  <a:cubicBezTo>
                    <a:pt x="19591" y="70512"/>
                    <a:pt x="4898" y="55828"/>
                    <a:pt x="4898" y="37709"/>
                  </a:cubicBezTo>
                  <a:cubicBezTo>
                    <a:pt x="4898" y="19591"/>
                    <a:pt x="19591" y="4907"/>
                    <a:pt x="37701" y="4907"/>
                  </a:cubicBezTo>
                  <a:close/>
                  <a:moveTo>
                    <a:pt x="37701" y="0"/>
                  </a:moveTo>
                  <a:cubicBezTo>
                    <a:pt x="16879" y="0"/>
                    <a:pt x="1" y="16887"/>
                    <a:pt x="1" y="37709"/>
                  </a:cubicBezTo>
                  <a:cubicBezTo>
                    <a:pt x="1" y="58531"/>
                    <a:pt x="16879" y="75409"/>
                    <a:pt x="37701" y="75409"/>
                  </a:cubicBezTo>
                  <a:cubicBezTo>
                    <a:pt x="58532" y="75409"/>
                    <a:pt x="75410" y="58531"/>
                    <a:pt x="75410" y="37709"/>
                  </a:cubicBezTo>
                  <a:cubicBezTo>
                    <a:pt x="75410" y="16887"/>
                    <a:pt x="58532" y="0"/>
                    <a:pt x="37701" y="0"/>
                  </a:cubicBezTo>
                  <a:close/>
                </a:path>
              </a:pathLst>
            </a:custGeom>
            <a:solidFill>
              <a:srgbClr val="FFFFFF">
                <a:alpha val="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4"/>
            <p:cNvSpPr/>
            <p:nvPr/>
          </p:nvSpPr>
          <p:spPr>
            <a:xfrm>
              <a:off x="272550" y="474475"/>
              <a:ext cx="1504775" cy="1504550"/>
            </a:xfrm>
            <a:custGeom>
              <a:avLst/>
              <a:gdLst/>
              <a:ahLst/>
              <a:cxnLst/>
              <a:rect l="l" t="t" r="r" b="b"/>
              <a:pathLst>
                <a:path w="60191" h="60182" extrusionOk="0">
                  <a:moveTo>
                    <a:pt x="30091" y="3908"/>
                  </a:moveTo>
                  <a:cubicBezTo>
                    <a:pt x="44552" y="3908"/>
                    <a:pt x="56274" y="15630"/>
                    <a:pt x="56274" y="30091"/>
                  </a:cubicBezTo>
                  <a:cubicBezTo>
                    <a:pt x="56274" y="44552"/>
                    <a:pt x="44552" y="56274"/>
                    <a:pt x="30091" y="56274"/>
                  </a:cubicBezTo>
                  <a:cubicBezTo>
                    <a:pt x="15639" y="56274"/>
                    <a:pt x="3908" y="44552"/>
                    <a:pt x="3908" y="30091"/>
                  </a:cubicBezTo>
                  <a:cubicBezTo>
                    <a:pt x="3908" y="15630"/>
                    <a:pt x="15639" y="3908"/>
                    <a:pt x="30091" y="3908"/>
                  </a:cubicBezTo>
                  <a:close/>
                  <a:moveTo>
                    <a:pt x="30091" y="1"/>
                  </a:moveTo>
                  <a:cubicBezTo>
                    <a:pt x="13471" y="1"/>
                    <a:pt x="0" y="13471"/>
                    <a:pt x="0" y="30091"/>
                  </a:cubicBezTo>
                  <a:cubicBezTo>
                    <a:pt x="0" y="46711"/>
                    <a:pt x="13471" y="60182"/>
                    <a:pt x="30091" y="60182"/>
                  </a:cubicBezTo>
                  <a:cubicBezTo>
                    <a:pt x="46711" y="60182"/>
                    <a:pt x="60191" y="46711"/>
                    <a:pt x="60191" y="30091"/>
                  </a:cubicBezTo>
                  <a:cubicBezTo>
                    <a:pt x="60191" y="13471"/>
                    <a:pt x="46711" y="1"/>
                    <a:pt x="30091" y="1"/>
                  </a:cubicBezTo>
                  <a:close/>
                </a:path>
              </a:pathLst>
            </a:custGeom>
            <a:solidFill>
              <a:srgbClr val="FFFFFF">
                <a:alpha val="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8" name="Google Shape;508;p34"/>
          <p:cNvSpPr txBox="1">
            <a:spLocks noGrp="1"/>
          </p:cNvSpPr>
          <p:nvPr>
            <p:ph type="ctrTitle"/>
          </p:nvPr>
        </p:nvSpPr>
        <p:spPr>
          <a:xfrm>
            <a:off x="1473338" y="1504713"/>
            <a:ext cx="6197100" cy="158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DS-300</a:t>
            </a:r>
            <a:br>
              <a:rPr lang="en-US" sz="3600" dirty="0"/>
            </a:br>
            <a:r>
              <a:rPr lang="en-US" sz="3600" dirty="0"/>
              <a:t>Certification Preparation for Citizen DS</a:t>
            </a:r>
            <a:endParaRPr sz="3600" dirty="0"/>
          </a:p>
        </p:txBody>
      </p:sp>
      <p:sp>
        <p:nvSpPr>
          <p:cNvPr id="509" name="Google Shape;509;p34"/>
          <p:cNvSpPr txBox="1">
            <a:spLocks noGrp="1"/>
          </p:cNvSpPr>
          <p:nvPr>
            <p:ph type="subTitle" idx="1"/>
          </p:nvPr>
        </p:nvSpPr>
        <p:spPr>
          <a:xfrm>
            <a:off x="1473563" y="3162987"/>
            <a:ext cx="6197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DASCA Senior Data Scientist Exam Prep</a:t>
            </a:r>
            <a:endParaRPr dirty="0"/>
          </a:p>
        </p:txBody>
      </p:sp>
      <p:pic>
        <p:nvPicPr>
          <p:cNvPr id="510" name="Google Shape;510;p34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7677050" y="481550"/>
            <a:ext cx="795848" cy="79584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1" name="Google Shape;511;p34"/>
          <p:cNvGrpSpPr/>
          <p:nvPr/>
        </p:nvGrpSpPr>
        <p:grpSpPr>
          <a:xfrm rot="10800000" flipH="1">
            <a:off x="-383924" y="-390131"/>
            <a:ext cx="9662974" cy="1472410"/>
            <a:chOff x="-326774" y="3899694"/>
            <a:chExt cx="9662974" cy="1472410"/>
          </a:xfrm>
        </p:grpSpPr>
        <p:sp>
          <p:nvSpPr>
            <p:cNvPr id="512" name="Google Shape;512;p34"/>
            <p:cNvSpPr/>
            <p:nvPr/>
          </p:nvSpPr>
          <p:spPr>
            <a:xfrm>
              <a:off x="5590140" y="4512637"/>
              <a:ext cx="268795" cy="268795"/>
            </a:xfrm>
            <a:custGeom>
              <a:avLst/>
              <a:gdLst/>
              <a:ahLst/>
              <a:cxnLst/>
              <a:rect l="l" t="t" r="r" b="b"/>
              <a:pathLst>
                <a:path w="6674" h="6674" extrusionOk="0">
                  <a:moveTo>
                    <a:pt x="3337" y="527"/>
                  </a:moveTo>
                  <a:cubicBezTo>
                    <a:pt x="4889" y="527"/>
                    <a:pt x="6147" y="1785"/>
                    <a:pt x="6147" y="3337"/>
                  </a:cubicBezTo>
                  <a:cubicBezTo>
                    <a:pt x="6147" y="4890"/>
                    <a:pt x="4889" y="6156"/>
                    <a:pt x="3337" y="6156"/>
                  </a:cubicBezTo>
                  <a:cubicBezTo>
                    <a:pt x="1785" y="6156"/>
                    <a:pt x="518" y="4890"/>
                    <a:pt x="518" y="3337"/>
                  </a:cubicBezTo>
                  <a:cubicBezTo>
                    <a:pt x="518" y="1785"/>
                    <a:pt x="1785" y="527"/>
                    <a:pt x="3337" y="527"/>
                  </a:cubicBezTo>
                  <a:close/>
                  <a:moveTo>
                    <a:pt x="3337" y="1"/>
                  </a:moveTo>
                  <a:cubicBezTo>
                    <a:pt x="1499" y="1"/>
                    <a:pt x="1" y="1500"/>
                    <a:pt x="1" y="3337"/>
                  </a:cubicBezTo>
                  <a:cubicBezTo>
                    <a:pt x="1" y="5175"/>
                    <a:pt x="1499" y="6674"/>
                    <a:pt x="3337" y="6674"/>
                  </a:cubicBezTo>
                  <a:cubicBezTo>
                    <a:pt x="5175" y="6674"/>
                    <a:pt x="6674" y="5175"/>
                    <a:pt x="6674" y="3337"/>
                  </a:cubicBezTo>
                  <a:cubicBezTo>
                    <a:pt x="6674" y="1500"/>
                    <a:pt x="5175" y="1"/>
                    <a:pt x="3337" y="1"/>
                  </a:cubicBezTo>
                  <a:close/>
                </a:path>
              </a:pathLst>
            </a:custGeom>
            <a:solidFill>
              <a:srgbClr val="0A5F85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4"/>
            <p:cNvSpPr/>
            <p:nvPr/>
          </p:nvSpPr>
          <p:spPr>
            <a:xfrm>
              <a:off x="5659132" y="4581627"/>
              <a:ext cx="130813" cy="130813"/>
            </a:xfrm>
            <a:custGeom>
              <a:avLst/>
              <a:gdLst/>
              <a:ahLst/>
              <a:cxnLst/>
              <a:rect l="l" t="t" r="r" b="b"/>
              <a:pathLst>
                <a:path w="3248" h="3248" extrusionOk="0">
                  <a:moveTo>
                    <a:pt x="1624" y="1"/>
                  </a:moveTo>
                  <a:cubicBezTo>
                    <a:pt x="723" y="1"/>
                    <a:pt x="0" y="732"/>
                    <a:pt x="0" y="1624"/>
                  </a:cubicBezTo>
                  <a:cubicBezTo>
                    <a:pt x="0" y="2525"/>
                    <a:pt x="723" y="3248"/>
                    <a:pt x="1624" y="3248"/>
                  </a:cubicBezTo>
                  <a:cubicBezTo>
                    <a:pt x="2516" y="3248"/>
                    <a:pt x="3248" y="2525"/>
                    <a:pt x="3248" y="1624"/>
                  </a:cubicBezTo>
                  <a:cubicBezTo>
                    <a:pt x="3248" y="732"/>
                    <a:pt x="2516" y="1"/>
                    <a:pt x="1624" y="1"/>
                  </a:cubicBezTo>
                  <a:close/>
                </a:path>
              </a:pathLst>
            </a:custGeom>
            <a:solidFill>
              <a:srgbClr val="0A5F85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4"/>
            <p:cNvSpPr/>
            <p:nvPr/>
          </p:nvSpPr>
          <p:spPr>
            <a:xfrm>
              <a:off x="5714832" y="4781028"/>
              <a:ext cx="1162337" cy="591076"/>
            </a:xfrm>
            <a:custGeom>
              <a:avLst/>
              <a:gdLst/>
              <a:ahLst/>
              <a:cxnLst/>
              <a:rect l="l" t="t" r="r" b="b"/>
              <a:pathLst>
                <a:path w="28860" h="14676" extrusionOk="0">
                  <a:moveTo>
                    <a:pt x="0" y="1"/>
                  </a:moveTo>
                  <a:lnTo>
                    <a:pt x="0" y="6656"/>
                  </a:lnTo>
                  <a:cubicBezTo>
                    <a:pt x="0" y="10215"/>
                    <a:pt x="2900" y="13106"/>
                    <a:pt x="6459" y="13106"/>
                  </a:cubicBezTo>
                  <a:lnTo>
                    <a:pt x="25746" y="13106"/>
                  </a:lnTo>
                  <a:cubicBezTo>
                    <a:pt x="26861" y="13106"/>
                    <a:pt x="27816" y="13748"/>
                    <a:pt x="28280" y="14676"/>
                  </a:cubicBezTo>
                  <a:lnTo>
                    <a:pt x="28860" y="14676"/>
                  </a:lnTo>
                  <a:cubicBezTo>
                    <a:pt x="28351" y="13454"/>
                    <a:pt x="27147" y="12588"/>
                    <a:pt x="25746" y="12588"/>
                  </a:cubicBezTo>
                  <a:lnTo>
                    <a:pt x="6459" y="12588"/>
                  </a:lnTo>
                  <a:cubicBezTo>
                    <a:pt x="3185" y="12588"/>
                    <a:pt x="518" y="9930"/>
                    <a:pt x="518" y="6656"/>
                  </a:cubicBezTo>
                  <a:lnTo>
                    <a:pt x="518" y="1"/>
                  </a:lnTo>
                  <a:cubicBezTo>
                    <a:pt x="428" y="1"/>
                    <a:pt x="330" y="10"/>
                    <a:pt x="241" y="10"/>
                  </a:cubicBezTo>
                  <a:cubicBezTo>
                    <a:pt x="161" y="10"/>
                    <a:pt x="80" y="1"/>
                    <a:pt x="0" y="1"/>
                  </a:cubicBezTo>
                  <a:close/>
                </a:path>
              </a:pathLst>
            </a:custGeom>
            <a:solidFill>
              <a:srgbClr val="0A5F85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4"/>
            <p:cNvSpPr/>
            <p:nvPr/>
          </p:nvSpPr>
          <p:spPr>
            <a:xfrm>
              <a:off x="-299830" y="3899694"/>
              <a:ext cx="6035491" cy="613348"/>
            </a:xfrm>
            <a:custGeom>
              <a:avLst/>
              <a:gdLst/>
              <a:ahLst/>
              <a:cxnLst/>
              <a:rect l="l" t="t" r="r" b="b"/>
              <a:pathLst>
                <a:path w="149857" h="15229" extrusionOk="0">
                  <a:moveTo>
                    <a:pt x="1" y="1"/>
                  </a:moveTo>
                  <a:lnTo>
                    <a:pt x="1" y="518"/>
                  </a:lnTo>
                  <a:lnTo>
                    <a:pt x="143960" y="518"/>
                  </a:lnTo>
                  <a:cubicBezTo>
                    <a:pt x="146922" y="518"/>
                    <a:pt x="149339" y="2936"/>
                    <a:pt x="149339" y="5906"/>
                  </a:cubicBezTo>
                  <a:lnTo>
                    <a:pt x="149339" y="15229"/>
                  </a:lnTo>
                  <a:cubicBezTo>
                    <a:pt x="149419" y="15229"/>
                    <a:pt x="149500" y="15220"/>
                    <a:pt x="149580" y="15220"/>
                  </a:cubicBezTo>
                  <a:cubicBezTo>
                    <a:pt x="149669" y="15220"/>
                    <a:pt x="149767" y="15229"/>
                    <a:pt x="149857" y="15229"/>
                  </a:cubicBezTo>
                  <a:lnTo>
                    <a:pt x="149857" y="5906"/>
                  </a:lnTo>
                  <a:cubicBezTo>
                    <a:pt x="149857" y="2641"/>
                    <a:pt x="147216" y="1"/>
                    <a:pt x="143960" y="1"/>
                  </a:cubicBezTo>
                  <a:close/>
                </a:path>
              </a:pathLst>
            </a:custGeom>
            <a:solidFill>
              <a:srgbClr val="0A5F85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4"/>
            <p:cNvSpPr/>
            <p:nvPr/>
          </p:nvSpPr>
          <p:spPr>
            <a:xfrm>
              <a:off x="5858172" y="4632293"/>
              <a:ext cx="3478028" cy="586042"/>
            </a:xfrm>
            <a:custGeom>
              <a:avLst/>
              <a:gdLst/>
              <a:ahLst/>
              <a:cxnLst/>
              <a:rect l="l" t="t" r="r" b="b"/>
              <a:pathLst>
                <a:path w="86357" h="14551" extrusionOk="0">
                  <a:moveTo>
                    <a:pt x="1" y="1"/>
                  </a:moveTo>
                  <a:lnTo>
                    <a:pt x="10" y="518"/>
                  </a:lnTo>
                  <a:lnTo>
                    <a:pt x="26630" y="518"/>
                  </a:lnTo>
                  <a:cubicBezTo>
                    <a:pt x="28896" y="518"/>
                    <a:pt x="31135" y="1267"/>
                    <a:pt x="32946" y="2623"/>
                  </a:cubicBezTo>
                  <a:lnTo>
                    <a:pt x="46346" y="12677"/>
                  </a:lnTo>
                  <a:cubicBezTo>
                    <a:pt x="47960" y="13891"/>
                    <a:pt x="49959" y="14551"/>
                    <a:pt x="51984" y="14551"/>
                  </a:cubicBezTo>
                  <a:lnTo>
                    <a:pt x="86356" y="14551"/>
                  </a:lnTo>
                  <a:lnTo>
                    <a:pt x="86356" y="14033"/>
                  </a:lnTo>
                  <a:lnTo>
                    <a:pt x="51984" y="14033"/>
                  </a:lnTo>
                  <a:cubicBezTo>
                    <a:pt x="50075" y="14033"/>
                    <a:pt x="48183" y="13400"/>
                    <a:pt x="46658" y="12258"/>
                  </a:cubicBezTo>
                  <a:lnTo>
                    <a:pt x="33258" y="2213"/>
                  </a:lnTo>
                  <a:cubicBezTo>
                    <a:pt x="31358" y="786"/>
                    <a:pt x="29003" y="1"/>
                    <a:pt x="26630" y="1"/>
                  </a:cubicBezTo>
                  <a:close/>
                </a:path>
              </a:pathLst>
            </a:custGeom>
            <a:solidFill>
              <a:srgbClr val="0A5F85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4"/>
            <p:cNvSpPr/>
            <p:nvPr/>
          </p:nvSpPr>
          <p:spPr>
            <a:xfrm>
              <a:off x="-326774" y="4632293"/>
              <a:ext cx="5917646" cy="20862"/>
            </a:xfrm>
            <a:custGeom>
              <a:avLst/>
              <a:gdLst/>
              <a:ahLst/>
              <a:cxnLst/>
              <a:rect l="l" t="t" r="r" b="b"/>
              <a:pathLst>
                <a:path w="146931" h="518" extrusionOk="0">
                  <a:moveTo>
                    <a:pt x="1" y="1"/>
                  </a:moveTo>
                  <a:lnTo>
                    <a:pt x="1" y="518"/>
                  </a:lnTo>
                  <a:lnTo>
                    <a:pt x="146922" y="518"/>
                  </a:lnTo>
                  <a:lnTo>
                    <a:pt x="146930" y="1"/>
                  </a:lnTo>
                  <a:close/>
                </a:path>
              </a:pathLst>
            </a:custGeom>
            <a:solidFill>
              <a:srgbClr val="0A5F85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8" name="Google Shape;518;p34"/>
          <p:cNvGrpSpPr/>
          <p:nvPr/>
        </p:nvGrpSpPr>
        <p:grpSpPr>
          <a:xfrm flipH="1">
            <a:off x="4630041" y="3249163"/>
            <a:ext cx="9011469" cy="2028639"/>
            <a:chOff x="605875" y="2133200"/>
            <a:chExt cx="5887925" cy="1325475"/>
          </a:xfrm>
        </p:grpSpPr>
        <p:sp>
          <p:nvSpPr>
            <p:cNvPr id="519" name="Google Shape;519;p34"/>
            <p:cNvSpPr/>
            <p:nvPr/>
          </p:nvSpPr>
          <p:spPr>
            <a:xfrm>
              <a:off x="4332425" y="2680275"/>
              <a:ext cx="2161375" cy="778400"/>
            </a:xfrm>
            <a:custGeom>
              <a:avLst/>
              <a:gdLst/>
              <a:ahLst/>
              <a:cxnLst/>
              <a:rect l="l" t="t" r="r" b="b"/>
              <a:pathLst>
                <a:path w="86455" h="31136" extrusionOk="0">
                  <a:moveTo>
                    <a:pt x="1" y="1"/>
                  </a:moveTo>
                  <a:lnTo>
                    <a:pt x="1" y="6665"/>
                  </a:lnTo>
                  <a:cubicBezTo>
                    <a:pt x="1" y="10224"/>
                    <a:pt x="2900" y="13115"/>
                    <a:pt x="6459" y="13115"/>
                  </a:cubicBezTo>
                  <a:lnTo>
                    <a:pt x="25747" y="13115"/>
                  </a:lnTo>
                  <a:cubicBezTo>
                    <a:pt x="27317" y="13115"/>
                    <a:pt x="28584" y="14390"/>
                    <a:pt x="28584" y="15952"/>
                  </a:cubicBezTo>
                  <a:lnTo>
                    <a:pt x="28584" y="25096"/>
                  </a:lnTo>
                  <a:cubicBezTo>
                    <a:pt x="28584" y="28432"/>
                    <a:pt x="31296" y="31135"/>
                    <a:pt x="34623" y="31135"/>
                  </a:cubicBezTo>
                  <a:lnTo>
                    <a:pt x="86454" y="31135"/>
                  </a:lnTo>
                  <a:lnTo>
                    <a:pt x="86454" y="30618"/>
                  </a:lnTo>
                  <a:lnTo>
                    <a:pt x="34623" y="30618"/>
                  </a:lnTo>
                  <a:cubicBezTo>
                    <a:pt x="31581" y="30618"/>
                    <a:pt x="29110" y="28147"/>
                    <a:pt x="29110" y="25096"/>
                  </a:cubicBezTo>
                  <a:lnTo>
                    <a:pt x="29110" y="15952"/>
                  </a:lnTo>
                  <a:cubicBezTo>
                    <a:pt x="29110" y="14105"/>
                    <a:pt x="27602" y="12597"/>
                    <a:pt x="25747" y="12597"/>
                  </a:cubicBezTo>
                  <a:lnTo>
                    <a:pt x="6459" y="12597"/>
                  </a:lnTo>
                  <a:cubicBezTo>
                    <a:pt x="3185" y="12597"/>
                    <a:pt x="518" y="9939"/>
                    <a:pt x="518" y="6665"/>
                  </a:cubicBezTo>
                  <a:lnTo>
                    <a:pt x="518" y="1"/>
                  </a:lnTo>
                  <a:cubicBezTo>
                    <a:pt x="429" y="10"/>
                    <a:pt x="331" y="10"/>
                    <a:pt x="241" y="10"/>
                  </a:cubicBezTo>
                  <a:cubicBezTo>
                    <a:pt x="161" y="10"/>
                    <a:pt x="81" y="10"/>
                    <a:pt x="1" y="1"/>
                  </a:cubicBezTo>
                  <a:close/>
                </a:path>
              </a:pathLst>
            </a:custGeom>
            <a:solidFill>
              <a:srgbClr val="0A5F85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0" name="Google Shape;520;p34"/>
            <p:cNvGrpSpPr/>
            <p:nvPr/>
          </p:nvGrpSpPr>
          <p:grpSpPr>
            <a:xfrm>
              <a:off x="605875" y="2133200"/>
              <a:ext cx="3816000" cy="713700"/>
              <a:chOff x="605875" y="2133200"/>
              <a:chExt cx="3816000" cy="713700"/>
            </a:xfrm>
          </p:grpSpPr>
          <p:sp>
            <p:nvSpPr>
              <p:cNvPr id="521" name="Google Shape;521;p34"/>
              <p:cNvSpPr/>
              <p:nvPr/>
            </p:nvSpPr>
            <p:spPr>
              <a:xfrm>
                <a:off x="4255025" y="2513900"/>
                <a:ext cx="166850" cy="166850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6674" extrusionOk="0">
                    <a:moveTo>
                      <a:pt x="3337" y="518"/>
                    </a:moveTo>
                    <a:cubicBezTo>
                      <a:pt x="4890" y="518"/>
                      <a:pt x="6148" y="1785"/>
                      <a:pt x="6148" y="3337"/>
                    </a:cubicBezTo>
                    <a:cubicBezTo>
                      <a:pt x="6148" y="4889"/>
                      <a:pt x="4890" y="6147"/>
                      <a:pt x="3337" y="6147"/>
                    </a:cubicBezTo>
                    <a:cubicBezTo>
                      <a:pt x="1785" y="6147"/>
                      <a:pt x="518" y="4889"/>
                      <a:pt x="518" y="3337"/>
                    </a:cubicBezTo>
                    <a:cubicBezTo>
                      <a:pt x="518" y="1785"/>
                      <a:pt x="1785" y="518"/>
                      <a:pt x="3337" y="518"/>
                    </a:cubicBezTo>
                    <a:close/>
                    <a:moveTo>
                      <a:pt x="3337" y="1"/>
                    </a:moveTo>
                    <a:cubicBezTo>
                      <a:pt x="1500" y="1"/>
                      <a:pt x="1" y="1499"/>
                      <a:pt x="1" y="3337"/>
                    </a:cubicBezTo>
                    <a:cubicBezTo>
                      <a:pt x="1" y="5175"/>
                      <a:pt x="1500" y="6674"/>
                      <a:pt x="3337" y="6674"/>
                    </a:cubicBezTo>
                    <a:cubicBezTo>
                      <a:pt x="5175" y="6674"/>
                      <a:pt x="6674" y="5175"/>
                      <a:pt x="6674" y="3337"/>
                    </a:cubicBezTo>
                    <a:cubicBezTo>
                      <a:pt x="6674" y="1499"/>
                      <a:pt x="5175" y="1"/>
                      <a:pt x="3337" y="1"/>
                    </a:cubicBezTo>
                    <a:close/>
                  </a:path>
                </a:pathLst>
              </a:custGeom>
              <a:solidFill>
                <a:srgbClr val="0A5F85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34"/>
              <p:cNvSpPr/>
              <p:nvPr/>
            </p:nvSpPr>
            <p:spPr>
              <a:xfrm>
                <a:off x="4297850" y="2556725"/>
                <a:ext cx="81225" cy="81200"/>
              </a:xfrm>
              <a:custGeom>
                <a:avLst/>
                <a:gdLst/>
                <a:ahLst/>
                <a:cxnLst/>
                <a:rect l="l" t="t" r="r" b="b"/>
                <a:pathLst>
                  <a:path w="3249" h="3248" extrusionOk="0">
                    <a:moveTo>
                      <a:pt x="1624" y="1"/>
                    </a:moveTo>
                    <a:cubicBezTo>
                      <a:pt x="723" y="1"/>
                      <a:pt x="1" y="723"/>
                      <a:pt x="1" y="1624"/>
                    </a:cubicBezTo>
                    <a:cubicBezTo>
                      <a:pt x="1" y="2516"/>
                      <a:pt x="723" y="3248"/>
                      <a:pt x="1624" y="3248"/>
                    </a:cubicBezTo>
                    <a:cubicBezTo>
                      <a:pt x="2517" y="3248"/>
                      <a:pt x="3248" y="2516"/>
                      <a:pt x="3248" y="1624"/>
                    </a:cubicBezTo>
                    <a:cubicBezTo>
                      <a:pt x="3248" y="723"/>
                      <a:pt x="2517" y="1"/>
                      <a:pt x="1624" y="1"/>
                    </a:cubicBezTo>
                    <a:close/>
                  </a:path>
                </a:pathLst>
              </a:custGeom>
              <a:solidFill>
                <a:srgbClr val="0A5F85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34"/>
              <p:cNvSpPr/>
              <p:nvPr/>
            </p:nvSpPr>
            <p:spPr>
              <a:xfrm>
                <a:off x="4345350" y="2680275"/>
                <a:ext cx="25" cy="166625"/>
              </a:xfrm>
              <a:custGeom>
                <a:avLst/>
                <a:gdLst/>
                <a:ahLst/>
                <a:cxnLst/>
                <a:rect l="l" t="t" r="r" b="b"/>
                <a:pathLst>
                  <a:path w="1" h="6665" extrusionOk="0">
                    <a:moveTo>
                      <a:pt x="1" y="1"/>
                    </a:moveTo>
                    <a:lnTo>
                      <a:pt x="1" y="6665"/>
                    </a:lnTo>
                  </a:path>
                </a:pathLst>
              </a:custGeom>
              <a:solidFill>
                <a:srgbClr val="0A5F85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34"/>
              <p:cNvSpPr/>
              <p:nvPr/>
            </p:nvSpPr>
            <p:spPr>
              <a:xfrm>
                <a:off x="605875" y="2133200"/>
                <a:ext cx="3739500" cy="380950"/>
              </a:xfrm>
              <a:custGeom>
                <a:avLst/>
                <a:gdLst/>
                <a:ahLst/>
                <a:cxnLst/>
                <a:rect l="l" t="t" r="r" b="b"/>
                <a:pathLst>
                  <a:path w="149580" h="15238" extrusionOk="0">
                    <a:moveTo>
                      <a:pt x="1" y="1"/>
                    </a:moveTo>
                    <a:lnTo>
                      <a:pt x="1" y="527"/>
                    </a:lnTo>
                    <a:lnTo>
                      <a:pt x="143683" y="527"/>
                    </a:lnTo>
                    <a:cubicBezTo>
                      <a:pt x="146645" y="527"/>
                      <a:pt x="149063" y="2944"/>
                      <a:pt x="149063" y="5906"/>
                    </a:cubicBezTo>
                    <a:lnTo>
                      <a:pt x="149063" y="15238"/>
                    </a:lnTo>
                    <a:cubicBezTo>
                      <a:pt x="149143" y="15238"/>
                      <a:pt x="149223" y="15229"/>
                      <a:pt x="149303" y="15229"/>
                    </a:cubicBezTo>
                    <a:cubicBezTo>
                      <a:pt x="149393" y="15229"/>
                      <a:pt x="149491" y="15238"/>
                      <a:pt x="149580" y="15238"/>
                    </a:cubicBezTo>
                    <a:lnTo>
                      <a:pt x="149580" y="5906"/>
                    </a:lnTo>
                    <a:cubicBezTo>
                      <a:pt x="149580" y="2650"/>
                      <a:pt x="146939" y="1"/>
                      <a:pt x="143683" y="1"/>
                    </a:cubicBezTo>
                    <a:close/>
                  </a:path>
                </a:pathLst>
              </a:custGeom>
              <a:solidFill>
                <a:srgbClr val="0A5F85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34"/>
              <p:cNvSpPr/>
              <p:nvPr/>
            </p:nvSpPr>
            <p:spPr>
              <a:xfrm>
                <a:off x="605875" y="2588175"/>
                <a:ext cx="3649625" cy="12950"/>
              </a:xfrm>
              <a:custGeom>
                <a:avLst/>
                <a:gdLst/>
                <a:ahLst/>
                <a:cxnLst/>
                <a:rect l="l" t="t" r="r" b="b"/>
                <a:pathLst>
                  <a:path w="145985" h="518" extrusionOk="0">
                    <a:moveTo>
                      <a:pt x="1" y="0"/>
                    </a:moveTo>
                    <a:lnTo>
                      <a:pt x="1" y="518"/>
                    </a:lnTo>
                    <a:lnTo>
                      <a:pt x="145967" y="518"/>
                    </a:lnTo>
                    <a:lnTo>
                      <a:pt x="145985" y="0"/>
                    </a:lnTo>
                    <a:close/>
                  </a:path>
                </a:pathLst>
              </a:custGeom>
              <a:solidFill>
                <a:srgbClr val="0A5F85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526" name="Google Shape;526;p34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482925" y="2076451"/>
            <a:ext cx="990602" cy="9906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7" name="Google Shape;527;p34"/>
          <p:cNvGrpSpPr/>
          <p:nvPr/>
        </p:nvGrpSpPr>
        <p:grpSpPr>
          <a:xfrm>
            <a:off x="713220" y="790818"/>
            <a:ext cx="795862" cy="557722"/>
            <a:chOff x="4497621" y="4252575"/>
            <a:chExt cx="678947" cy="475790"/>
          </a:xfrm>
        </p:grpSpPr>
        <p:sp>
          <p:nvSpPr>
            <p:cNvPr id="528" name="Google Shape;528;p34"/>
            <p:cNvSpPr/>
            <p:nvPr/>
          </p:nvSpPr>
          <p:spPr>
            <a:xfrm>
              <a:off x="4497621" y="4252575"/>
              <a:ext cx="328867" cy="475790"/>
            </a:xfrm>
            <a:custGeom>
              <a:avLst/>
              <a:gdLst/>
              <a:ahLst/>
              <a:cxnLst/>
              <a:rect l="l" t="t" r="r" b="b"/>
              <a:pathLst>
                <a:path w="8405" h="12160" extrusionOk="0">
                  <a:moveTo>
                    <a:pt x="0" y="0"/>
                  </a:moveTo>
                  <a:lnTo>
                    <a:pt x="4104" y="6085"/>
                  </a:lnTo>
                  <a:lnTo>
                    <a:pt x="0" y="12160"/>
                  </a:lnTo>
                  <a:lnTo>
                    <a:pt x="4300" y="12160"/>
                  </a:lnTo>
                  <a:lnTo>
                    <a:pt x="8395" y="6085"/>
                  </a:lnTo>
                  <a:lnTo>
                    <a:pt x="8404" y="6085"/>
                  </a:lnTo>
                  <a:lnTo>
                    <a:pt x="8404" y="6076"/>
                  </a:lnTo>
                  <a:lnTo>
                    <a:pt x="8395" y="6076"/>
                  </a:lnTo>
                  <a:lnTo>
                    <a:pt x="4300" y="0"/>
                  </a:lnTo>
                  <a:close/>
                </a:path>
              </a:pathLst>
            </a:custGeom>
            <a:solidFill>
              <a:srgbClr val="FFFFFF">
                <a:alpha val="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4"/>
            <p:cNvSpPr/>
            <p:nvPr/>
          </p:nvSpPr>
          <p:spPr>
            <a:xfrm>
              <a:off x="4847741" y="4252575"/>
              <a:ext cx="328828" cy="475790"/>
            </a:xfrm>
            <a:custGeom>
              <a:avLst/>
              <a:gdLst/>
              <a:ahLst/>
              <a:cxnLst/>
              <a:rect l="l" t="t" r="r" b="b"/>
              <a:pathLst>
                <a:path w="8404" h="12160" extrusionOk="0">
                  <a:moveTo>
                    <a:pt x="0" y="0"/>
                  </a:moveTo>
                  <a:lnTo>
                    <a:pt x="4095" y="6085"/>
                  </a:lnTo>
                  <a:lnTo>
                    <a:pt x="0" y="12160"/>
                  </a:lnTo>
                  <a:lnTo>
                    <a:pt x="4300" y="12160"/>
                  </a:lnTo>
                  <a:lnTo>
                    <a:pt x="8395" y="6085"/>
                  </a:lnTo>
                  <a:lnTo>
                    <a:pt x="8404" y="6076"/>
                  </a:lnTo>
                  <a:lnTo>
                    <a:pt x="8395" y="6076"/>
                  </a:lnTo>
                  <a:lnTo>
                    <a:pt x="4300" y="0"/>
                  </a:lnTo>
                  <a:close/>
                </a:path>
              </a:pathLst>
            </a:custGeom>
            <a:solidFill>
              <a:srgbClr val="FFFFFF">
                <a:alpha val="82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57"/>
          <p:cNvSpPr txBox="1">
            <a:spLocks noGrp="1"/>
          </p:cNvSpPr>
          <p:nvPr>
            <p:ph type="title"/>
          </p:nvPr>
        </p:nvSpPr>
        <p:spPr>
          <a:xfrm>
            <a:off x="720000" y="10366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Proposed 5-Day Structure</a:t>
            </a:r>
            <a:endParaRPr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10270F-41B1-489B-8713-6E5982019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802882"/>
            <a:ext cx="7704000" cy="4236951"/>
          </a:xfrm>
        </p:spPr>
        <p:txBody>
          <a:bodyPr/>
          <a:lstStyle/>
          <a:p>
            <a:pPr marL="0" marR="0"/>
            <a:r>
              <a:rPr lang="en-US" sz="16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Day 1: </a:t>
            </a:r>
            <a:r>
              <a:rPr lang="en-US" sz="1600" dirty="0">
                <a:solidFill>
                  <a:schemeClr val="tx1"/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BASE CAMP + SCALE UP (Part 1)</a:t>
            </a:r>
          </a:p>
          <a:p>
            <a:pPr marL="0" marR="0" indent="0">
              <a:buNone/>
            </a:pPr>
            <a:r>
              <a:rPr lang="en-US" sz="1600" dirty="0">
                <a:solidFill>
                  <a:schemeClr val="tx1"/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- Morning: DASCA Exam Mastery &amp; Strategy</a:t>
            </a:r>
          </a:p>
          <a:p>
            <a:pPr marL="0" marR="0" indent="0">
              <a:buNone/>
            </a:pPr>
            <a:r>
              <a:rPr lang="en-US" sz="1600" dirty="0">
                <a:solidFill>
                  <a:schemeClr val="tx1"/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- Afternoon: Big Data Fundamentals (Part 1)</a:t>
            </a:r>
          </a:p>
          <a:p>
            <a:pPr marL="0" marR="0"/>
            <a:endParaRPr lang="en-US" sz="1600" dirty="0">
              <a:solidFill>
                <a:schemeClr val="tx1"/>
              </a:solidFill>
              <a:effectLst/>
              <a:latin typeface="Bai Jamjuree" panose="020B0604020202020204" charset="-34"/>
              <a:ea typeface="Calibri" panose="020F0502020204030204" pitchFamily="34" charset="0"/>
              <a:cs typeface="Bai Jamjuree" panose="020B0604020202020204" charset="-34"/>
            </a:endParaRPr>
          </a:p>
          <a:p>
            <a:pPr marL="0" marR="0"/>
            <a:r>
              <a:rPr lang="en-US" sz="16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Day 2: </a:t>
            </a:r>
            <a:r>
              <a:rPr lang="en-US" sz="1600" dirty="0">
                <a:solidFill>
                  <a:schemeClr val="tx1"/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SCALE UP (Part 2) + SHIP IT</a:t>
            </a:r>
          </a:p>
          <a:p>
            <a:pPr marL="0" marR="0" indent="0">
              <a:buNone/>
            </a:pPr>
            <a:r>
              <a:rPr lang="en-US" sz="1600" dirty="0">
                <a:solidFill>
                  <a:schemeClr val="tx1"/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- Morning: Cloud Platforms &amp; Distributed Processing</a:t>
            </a:r>
          </a:p>
          <a:p>
            <a:pPr marL="0" marR="0" indent="0">
              <a:buNone/>
            </a:pPr>
            <a:r>
              <a:rPr lang="en-US" sz="1600" dirty="0">
                <a:solidFill>
                  <a:schemeClr val="tx1"/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- Afternoon: MLOps &amp; Production Deployment</a:t>
            </a:r>
          </a:p>
          <a:p>
            <a:pPr marL="0" marR="0"/>
            <a:endParaRPr lang="en-US" sz="1600" dirty="0">
              <a:solidFill>
                <a:schemeClr val="tx1"/>
              </a:solidFill>
              <a:effectLst/>
              <a:latin typeface="Bai Jamjuree" panose="020B0604020202020204" charset="-34"/>
              <a:ea typeface="Calibri" panose="020F0502020204030204" pitchFamily="34" charset="0"/>
              <a:cs typeface="Bai Jamjuree" panose="020B0604020202020204" charset="-34"/>
            </a:endParaRPr>
          </a:p>
          <a:p>
            <a:pPr marL="0" marR="0"/>
            <a:r>
              <a:rPr lang="en-US" sz="16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Day 3: </a:t>
            </a:r>
            <a:r>
              <a:rPr lang="en-US" sz="1600" dirty="0">
                <a:solidFill>
                  <a:schemeClr val="tx1"/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LEVEL UP - Advanced AI &amp; Generative Models</a:t>
            </a:r>
          </a:p>
          <a:p>
            <a:pPr marL="0" marR="0" indent="0">
              <a:buNone/>
            </a:pPr>
            <a:r>
              <a:rPr lang="en-US" sz="1600" dirty="0">
                <a:solidFill>
                  <a:schemeClr val="tx1"/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(Extend their NN knowledge to modern LLMs/Transformers)</a:t>
            </a:r>
          </a:p>
          <a:p>
            <a:pPr marL="0" marR="0"/>
            <a:endParaRPr lang="en-US" sz="1600" dirty="0">
              <a:solidFill>
                <a:schemeClr val="tx1"/>
              </a:solidFill>
              <a:effectLst/>
              <a:latin typeface="Bai Jamjuree" panose="020B0604020202020204" charset="-34"/>
              <a:ea typeface="Calibri" panose="020F0502020204030204" pitchFamily="34" charset="0"/>
              <a:cs typeface="Bai Jamjuree" panose="020B0604020202020204" charset="-34"/>
            </a:endParaRPr>
          </a:p>
          <a:p>
            <a:pPr marL="0" marR="0"/>
            <a:r>
              <a:rPr lang="en-US" sz="16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Day 4: </a:t>
            </a:r>
            <a:r>
              <a:rPr lang="en-US" sz="1600" dirty="0">
                <a:solidFill>
                  <a:schemeClr val="tx1"/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ALIGN IT - Strategic Frameworks &amp; Business Impact</a:t>
            </a:r>
          </a:p>
          <a:p>
            <a:pPr marL="0" marR="0" indent="0">
              <a:buNone/>
            </a:pPr>
            <a:r>
              <a:rPr lang="en-US" sz="1600" dirty="0">
                <a:solidFill>
                  <a:schemeClr val="tx1"/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(Sharpen their business case thinking beyond DS-100)</a:t>
            </a:r>
          </a:p>
          <a:p>
            <a:pPr marL="0" marR="0"/>
            <a:endParaRPr lang="en-US" sz="1600" dirty="0">
              <a:solidFill>
                <a:schemeClr val="tx1"/>
              </a:solidFill>
              <a:effectLst/>
              <a:latin typeface="Bai Jamjuree" panose="020B0604020202020204" charset="-34"/>
              <a:ea typeface="Calibri" panose="020F0502020204030204" pitchFamily="34" charset="0"/>
              <a:cs typeface="Bai Jamjuree" panose="020B0604020202020204" charset="-34"/>
            </a:endParaRPr>
          </a:p>
          <a:p>
            <a:pPr marL="0" marR="0"/>
            <a:r>
              <a:rPr lang="en-US" sz="1600" b="1" dirty="0">
                <a:solidFill>
                  <a:schemeClr val="accent2">
                    <a:lumMod val="20000"/>
                    <a:lumOff val="80000"/>
                  </a:schemeClr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Day 5: </a:t>
            </a:r>
            <a:r>
              <a:rPr lang="en-US" sz="1600" dirty="0">
                <a:solidFill>
                  <a:schemeClr val="tx1"/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SUMMIT - Integration Workshop + Mock Exam</a:t>
            </a:r>
          </a:p>
          <a:p>
            <a:pPr marL="0" marR="0" indent="0">
              <a:buNone/>
            </a:pPr>
            <a:r>
              <a:rPr lang="en-US" sz="1600" dirty="0">
                <a:solidFill>
                  <a:schemeClr val="tx1"/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(Connect everything + test readiness)</a:t>
            </a:r>
          </a:p>
        </p:txBody>
      </p:sp>
    </p:spTree>
    <p:extLst>
      <p:ext uri="{BB962C8B-B14F-4D97-AF65-F5344CB8AC3E}">
        <p14:creationId xmlns:p14="http://schemas.microsoft.com/office/powerpoint/2010/main" val="21832289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800A1-4204-4F59-80E6-8B9F7D93E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</p:spPr>
        <p:txBody>
          <a:bodyPr/>
          <a:lstStyle/>
          <a:p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DAY 1: </a:t>
            </a:r>
            <a:r>
              <a:rPr lang="en-US" sz="2400" dirty="0"/>
              <a:t>"BASE CAMP" - Orientation &amp; Foundations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1567B-FAE2-41B1-A525-A65194D8E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499733"/>
            <a:ext cx="7704000" cy="738693"/>
          </a:xfrm>
        </p:spPr>
        <p:txBody>
          <a:bodyPr anchor="ctr"/>
          <a:lstStyle/>
          <a:p>
            <a:pPr marL="0" marR="0" indent="0" algn="ctr">
              <a:lnSpc>
                <a:spcPct val="150000"/>
              </a:lnSpc>
              <a:buNone/>
            </a:pPr>
            <a:r>
              <a:rPr lang="en-US" sz="1800" i="1" dirty="0"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"Understanding the Mountain Before We Climb"</a:t>
            </a:r>
            <a:endParaRPr lang="en-US" sz="1800" b="1" dirty="0">
              <a:solidFill>
                <a:schemeClr val="accent3">
                  <a:lumMod val="20000"/>
                  <a:lumOff val="80000"/>
                </a:schemeClr>
              </a:solidFill>
              <a:effectLst/>
              <a:latin typeface="Bai Jamjuree" panose="020B0604020202020204" charset="-34"/>
              <a:ea typeface="Calibri" panose="020F0502020204030204" pitchFamily="34" charset="0"/>
              <a:cs typeface="Bai Jamjuree" panose="020B0604020202020204" charset="-34"/>
            </a:endParaRPr>
          </a:p>
          <a:p>
            <a:pPr marL="0" marR="0" indent="0" algn="ctr">
              <a:buNone/>
            </a:pPr>
            <a:r>
              <a:rPr 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Theme:</a:t>
            </a:r>
            <a:r>
              <a:rPr lang="en-US" sz="180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 </a:t>
            </a:r>
            <a:r>
              <a:rPr lang="en-US" sz="1800" dirty="0"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DASCA Exam Mastery (Orientation)</a:t>
            </a:r>
          </a:p>
          <a:p>
            <a:pPr marL="139700" indent="0">
              <a:buNone/>
            </a:pPr>
            <a:endParaRPr lang="en-US" b="1" dirty="0">
              <a:latin typeface="Bai Jamjuree" panose="020B0604020202020204" charset="-34"/>
              <a:cs typeface="Bai Jamjuree" panose="020B0604020202020204" charset="-34"/>
            </a:endParaRPr>
          </a:p>
        </p:txBody>
      </p:sp>
      <p:graphicFrame>
        <p:nvGraphicFramePr>
          <p:cNvPr id="5" name="Google Shape;535;p35">
            <a:extLst>
              <a:ext uri="{FF2B5EF4-FFF2-40B4-BE49-F238E27FC236}">
                <a16:creationId xmlns:a16="http://schemas.microsoft.com/office/drawing/2014/main" id="{1D404413-B2D2-4AFA-A1A6-800094E091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2743589"/>
              </p:ext>
            </p:extLst>
          </p:nvPr>
        </p:nvGraphicFramePr>
        <p:xfrm>
          <a:off x="654685" y="1238426"/>
          <a:ext cx="7704000" cy="3775285"/>
        </p:xfrm>
        <a:graphic>
          <a:graphicData uri="http://schemas.openxmlformats.org/drawingml/2006/table">
            <a:tbl>
              <a:tblPr>
                <a:noFill/>
                <a:tableStyleId>{4865F194-686D-4626-AA03-DDA16BDE0137}</a:tableStyleId>
              </a:tblPr>
              <a:tblGrid>
                <a:gridCol w="1626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Session 1: </a:t>
                      </a:r>
                    </a:p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"Know Your Opponent" - DASCA Exam Deep Dive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None/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DASCA Exam Structure:</a:t>
                      </a:r>
                    </a:p>
                    <a:p>
                      <a:pPr marL="102870" marR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85 questions (single answer, no partial credit)</a:t>
                      </a:r>
                    </a:p>
                    <a:p>
                      <a:pPr marL="102870" marR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100 minutes (1.18 min/question - time is tight!)</a:t>
                      </a:r>
                    </a:p>
                    <a:p>
                      <a:pPr marL="102870" marR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7 knowledge clusters (with different weightings)</a:t>
                      </a:r>
                    </a:p>
                    <a:p>
                      <a:pPr marL="102870" marR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Content: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Exam Structure Breakdown 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Exam logistics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Session 2: </a:t>
                      </a:r>
                    </a:p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 "Your Gap Map" - Personalized Strategy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Your Journey So Far (What You Already Know)</a:t>
                      </a:r>
                    </a:p>
                    <a:p>
                      <a:pPr marL="74295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Visual coverage map showing their completed courses</a:t>
                      </a:r>
                    </a:p>
                    <a:p>
                      <a:pPr marL="342900" marR="0" lvl="0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Your Knowledge Gaps (What This Course Fills)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Test-Taking Strategies - Catchy Framework: "The 4 P's of Exam Success“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Time Management Tactics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Common Traps &amp; How to Avoid Them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Session 3: </a:t>
                      </a:r>
                    </a:p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The Scale Transition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Catchy Framework: "The 3 V's + 2 C's Rule"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</a:t>
                      </a:r>
                    </a:p>
                    <a:p>
                      <a:pPr marL="742950" marR="0" lvl="1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Volume, Velocity, Variety (traditional 3 V's)</a:t>
                      </a:r>
                    </a:p>
                    <a:p>
                      <a:pPr marL="742950" marR="0" lvl="1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+ Compute, Cost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(what actually matters for engineering decisions)</a:t>
                      </a:r>
                    </a:p>
                    <a:p>
                      <a:pPr marL="342900" marR="0" lvl="0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Conceptual Exercise: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"Laptop vs. Cluster" decision tree </a:t>
                      </a:r>
                    </a:p>
                    <a:p>
                      <a:pPr marL="742950" marR="0" lvl="1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When does pandas break? When do you need Spark?</a:t>
                      </a:r>
                    </a:p>
                    <a:p>
                      <a:pPr marL="742950" marR="0" lvl="1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Interactive quiz: Given business scenarios, choose the right tool</a:t>
                      </a:r>
                    </a:p>
                    <a:p>
                      <a:pPr marL="342900" marR="0" lvl="0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Hands-on practice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Session 4: </a:t>
                      </a:r>
                    </a:p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Distributed Storage &amp; Processing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Catchy Framework: "The HDFS Highway"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(data flows like cars on a distributed road) </a:t>
                      </a:r>
                    </a:p>
                    <a:p>
                      <a:pPr marL="742950" marR="0" lvl="1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Data Locality = "Process where the data lives, not where you live"</a:t>
                      </a:r>
                    </a:p>
                    <a:p>
                      <a:pPr marL="742950" marR="0" lvl="1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Replication = "Always have backup drivers"</a:t>
                      </a:r>
                    </a:p>
                    <a:p>
                      <a:pPr marL="342900" marR="0" lvl="0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Hands-on Lab: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Basic 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PySpark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operations </a:t>
                      </a:r>
                    </a:p>
                    <a:p>
                      <a:pPr marL="742950" marR="0" lvl="1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Load a large CSV, do 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groupBy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/aggregations</a:t>
                      </a:r>
                    </a:p>
                    <a:p>
                      <a:pPr marL="742950" marR="0" lvl="1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Compare pandas timing vs. Spark timing</a:t>
                      </a:r>
                    </a:p>
                    <a:p>
                      <a:pPr marL="342900" marR="0" lvl="0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Metaphor: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"Spark = Orchestra with a Conductor" (driver coordinates workers)</a:t>
                      </a:r>
                    </a:p>
                    <a:p>
                      <a:pPr marL="342900" marR="0" lvl="0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Hands-on practice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767258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Practice &amp; Daily Recap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10 DASCA-style questions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(Type A/B/C) on Big Data topics</a:t>
                      </a:r>
                    </a:p>
                    <a:p>
                      <a:pPr marL="342900" marR="0" lvl="0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Catchy Recap Phrase: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</a:t>
                      </a:r>
                      <a:r>
                        <a:rPr lang="en-US" sz="800" i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"Small Data = You move to data. Big Data = Data moves to you."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1516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800A1-4204-4F59-80E6-8B9F7D93E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04"/>
            <a:ext cx="8061960" cy="572700"/>
          </a:xfrm>
        </p:spPr>
        <p:txBody>
          <a:bodyPr/>
          <a:lstStyle/>
          <a:p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DAY 2: </a:t>
            </a:r>
            <a:r>
              <a:rPr lang="en-US" sz="2400" dirty="0"/>
              <a:t> "SCALE UP" (Part 2) + "SHIP IT"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1567B-FAE2-41B1-A525-A65194D8E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487033"/>
            <a:ext cx="7704000" cy="572701"/>
          </a:xfrm>
        </p:spPr>
        <p:txBody>
          <a:bodyPr anchor="ctr"/>
          <a:lstStyle/>
          <a:p>
            <a:pPr marL="0" marR="0" indent="0" algn="ctr">
              <a:spcAft>
                <a:spcPts val="600"/>
              </a:spcAft>
              <a:buNone/>
            </a:pPr>
            <a:r>
              <a:rPr lang="en-US" sz="1800" i="1" dirty="0"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"From </a:t>
            </a:r>
            <a:r>
              <a:rPr lang="en-US" sz="1800" i="1" dirty="0" err="1"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Jupyter</a:t>
            </a:r>
            <a:r>
              <a:rPr lang="en-US" sz="1800" i="1" dirty="0"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 Notebook to Production Pipeline“</a:t>
            </a:r>
          </a:p>
          <a:p>
            <a:pPr marL="0" marR="0" indent="0" algn="ctr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Theme:</a:t>
            </a:r>
            <a:r>
              <a:rPr lang="en-US" sz="120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 </a:t>
            </a:r>
            <a:r>
              <a:rPr lang="en-US" sz="1200" dirty="0"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The gap between "model works on my laptop" and "model works at 3am on Black Friday"</a:t>
            </a:r>
            <a:endParaRPr lang="en-US" sz="1050" b="1" dirty="0">
              <a:latin typeface="Bai Jamjuree" panose="020B0604020202020204" charset="-34"/>
              <a:cs typeface="Bai Jamjuree" panose="020B0604020202020204" charset="-34"/>
            </a:endParaRPr>
          </a:p>
        </p:txBody>
      </p:sp>
      <p:graphicFrame>
        <p:nvGraphicFramePr>
          <p:cNvPr id="5" name="Google Shape;535;p35">
            <a:extLst>
              <a:ext uri="{FF2B5EF4-FFF2-40B4-BE49-F238E27FC236}">
                <a16:creationId xmlns:a16="http://schemas.microsoft.com/office/drawing/2014/main" id="{1D404413-B2D2-4AFA-A1A6-800094E091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797679"/>
              </p:ext>
            </p:extLst>
          </p:nvPr>
        </p:nvGraphicFramePr>
        <p:xfrm>
          <a:off x="720000" y="1116503"/>
          <a:ext cx="7704000" cy="3683845"/>
        </p:xfrm>
        <a:graphic>
          <a:graphicData uri="http://schemas.openxmlformats.org/drawingml/2006/table">
            <a:tbl>
              <a:tblPr>
                <a:noFill/>
                <a:tableStyleId>{4865F194-686D-4626-AA03-DDA16BDE0137}</a:tableStyleId>
              </a:tblPr>
              <a:tblGrid>
                <a:gridCol w="1626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Session 1: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Cloud Platforms Overview</a:t>
                      </a:r>
                      <a:endParaRPr sz="1000" b="1" i="0" u="none" strike="noStrike" cap="none" dirty="0">
                        <a:solidFill>
                          <a:schemeClr val="hlink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Catchy Framework: "The Cloud Triangle"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</a:t>
                      </a:r>
                    </a:p>
                    <a:p>
                      <a:pPr marL="742950" marR="0" lvl="1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Storage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(S3/Azure Blob = "Infinite filing cabinet")</a:t>
                      </a:r>
                    </a:p>
                    <a:p>
                      <a:pPr marL="742950" marR="0" lvl="1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Compute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(EC2/VMs = "Rent-a-brain by the hour")</a:t>
                      </a:r>
                    </a:p>
                    <a:p>
                      <a:pPr marL="742950" marR="0" lvl="1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Services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(</a:t>
                      </a:r>
                      <a:r>
                        <a:rPr lang="en-US" sz="800" dirty="0" err="1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SageMaker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/Azure ML = "Pre-built ML kitchen")</a:t>
                      </a:r>
                    </a:p>
                    <a:p>
                      <a:pPr marL="342900" marR="0" lvl="0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Conceptual Exercise:</a:t>
                      </a: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 Cloud architecture design challenge </a:t>
                      </a:r>
                    </a:p>
                    <a:p>
                      <a:pPr marL="742950" marR="0" lvl="1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Given a business problem, sketch the cloud solution</a:t>
                      </a:r>
                    </a:p>
                    <a:p>
                      <a:pPr marL="742950" marR="0" lvl="1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Group discussion: cost vs. performance trade-offs</a:t>
                      </a:r>
                    </a:p>
                    <a:p>
                      <a:pPr marL="342900" marR="0" lvl="0" indent="-182880"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Hands-on practice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734398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Session 2: </a:t>
                      </a:r>
                    </a:p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The </a:t>
                      </a:r>
                      <a:r>
                        <a:rPr lang="en-US" sz="1000" b="1" i="0" u="none" strike="noStrike" cap="none" dirty="0" err="1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MLOps</a:t>
                      </a:r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 Mindset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Catchy Framework: "The 3 R's of Production ML" 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Reproducibility (versioning = time machine for models)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Reliability (monitoring = smoke detectors for ML)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Repeatability (automation = robots doing your job while you sleep)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Conceptual Exercise: "Notebook to Production" gap analysis 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List everything that can go wrong when deploying a model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Brainstorm: What needs to be automated?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Metaphor: "MLOps = Factory Assembly Line for Models“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7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Hands-on practice</a:t>
                      </a:r>
                      <a:endParaRPr lang="en-US" sz="700" b="1" i="0" u="none" strike="noStrike" cap="none" dirty="0">
                        <a:solidFill>
                          <a:schemeClr val="tx1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Session 3: </a:t>
                      </a:r>
                    </a:p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CI/CD for ML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Catchy Framework: "The Deployment Pipeline = 4-Stage Rocket" 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Code (Git commits)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Test (unit tests, data validation)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Build (Docker container)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Deploy (Kubernetes)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7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Hands-on practice</a:t>
                      </a:r>
                      <a:endParaRPr lang="en-US" sz="700" b="1" i="0" u="none" strike="noStrike" cap="none" dirty="0">
                        <a:solidFill>
                          <a:schemeClr val="tx1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Session 4: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Monitoring &amp; Model Governance</a:t>
                      </a:r>
                      <a:endParaRPr sz="1000" b="1" i="0" u="none" strike="noStrike" cap="none" dirty="0">
                        <a:solidFill>
                          <a:schemeClr val="hlink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Catchy Framework: "The 3 Drifts" 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Data Drift (input distribution changes)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Concept Drift (relationship between X and Y changes)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Model Drift (performance degrades over time)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Conceptual Exercise: Drift detection scenarios 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Given business cases, identify which drift is happening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7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Hands-on practice</a:t>
                      </a:r>
                      <a:endParaRPr lang="en-US" sz="700" b="1" i="0" u="none" strike="noStrike" cap="none" dirty="0">
                        <a:solidFill>
                          <a:schemeClr val="tx1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Practice &amp; Daily Recap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10 DASCA-style questions (Type A/B/C) on Big Data topics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7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Catchy Recap Phrase: "ML without Ops = Art. ML with Ops = Engineering."</a:t>
                      </a: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306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800A1-4204-4F59-80E6-8B9F7D93E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0"/>
            <a:ext cx="8496299" cy="572700"/>
          </a:xfrm>
        </p:spPr>
        <p:txBody>
          <a:bodyPr/>
          <a:lstStyle/>
          <a:p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DAY 3: </a:t>
            </a:r>
            <a:r>
              <a:rPr lang="en-US" sz="2400" dirty="0"/>
              <a:t>"LEVEL UP" - Advanced AI &amp; Generative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1567B-FAE2-41B1-A525-A65194D8E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547359"/>
            <a:ext cx="7704000" cy="572700"/>
          </a:xfrm>
        </p:spPr>
        <p:txBody>
          <a:bodyPr anchor="ctr"/>
          <a:lstStyle/>
          <a:p>
            <a:pPr marL="0" marR="0" indent="0" algn="ctr">
              <a:spcAft>
                <a:spcPts val="600"/>
              </a:spcAft>
              <a:buNone/>
            </a:pPr>
            <a:r>
              <a:rPr lang="en-US" sz="1800" i="1" dirty="0"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"From Neural Networks to Neural Superpowers“</a:t>
            </a:r>
          </a:p>
          <a:p>
            <a:pPr marL="0" marR="0" indent="0" algn="ctr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Theme:</a:t>
            </a:r>
            <a:r>
              <a:rPr lang="en-US" sz="180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 </a:t>
            </a:r>
            <a:r>
              <a:rPr lang="en-US" sz="1800" dirty="0"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Evolution from their DS-122 CNN knowledge to modern AI</a:t>
            </a:r>
            <a:endParaRPr lang="en-US" b="1" dirty="0">
              <a:latin typeface="Bai Jamjuree" panose="020B0604020202020204" charset="-34"/>
              <a:cs typeface="Bai Jamjuree" panose="020B0604020202020204" charset="-34"/>
            </a:endParaRPr>
          </a:p>
        </p:txBody>
      </p:sp>
      <p:graphicFrame>
        <p:nvGraphicFramePr>
          <p:cNvPr id="5" name="Google Shape;535;p35">
            <a:extLst>
              <a:ext uri="{FF2B5EF4-FFF2-40B4-BE49-F238E27FC236}">
                <a16:creationId xmlns:a16="http://schemas.microsoft.com/office/drawing/2014/main" id="{1D404413-B2D2-4AFA-A1A6-800094E091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1510713"/>
              </p:ext>
            </p:extLst>
          </p:nvPr>
        </p:nvGraphicFramePr>
        <p:xfrm>
          <a:off x="542925" y="1129584"/>
          <a:ext cx="8353424" cy="3865047"/>
        </p:xfrm>
        <a:graphic>
          <a:graphicData uri="http://schemas.openxmlformats.org/drawingml/2006/table">
            <a:tbl>
              <a:tblPr>
                <a:noFill/>
                <a:tableStyleId>{4865F194-686D-4626-AA03-DDA16BDE0137}</a:tableStyleId>
              </a:tblPr>
              <a:tblGrid>
                <a:gridCol w="1315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7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97891">
                <a:tc>
                  <a:txBody>
                    <a:bodyPr/>
                    <a:lstStyle/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Session 1: </a:t>
                      </a:r>
                    </a:p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The Transformer Revolution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Catchy Framework: "The Attention Analogy = Spotlight in a Theater" </a:t>
                      </a:r>
                    </a:p>
                    <a:p>
                      <a:pPr marL="74295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Traditional RNN = watch a play sequentially</a:t>
                      </a:r>
                    </a:p>
                    <a:p>
                      <a:pPr marL="74295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Transformer = spotlight can jump anywhere instantly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Build on their knowledge: </a:t>
                      </a:r>
                    </a:p>
                    <a:p>
                      <a:pPr marL="74295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"You know CNNs (DS-122) = spatial patterns"</a:t>
                      </a:r>
                    </a:p>
                    <a:p>
                      <a:pPr marL="74295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"Transformers = temporal patterns with superpowers"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Conceptual Exercise: Architecture comparison table </a:t>
                      </a:r>
                    </a:p>
                    <a:p>
                      <a:pPr marL="74295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RNN vs. LSTM vs. Transformer (when to use each?)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Visual Demo: Attention mechanism visualization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Hands-on practice</a:t>
                      </a:r>
                      <a:endParaRPr lang="en-US" sz="800" b="0" i="0" u="none" strike="noStrike" cap="none" dirty="0">
                        <a:solidFill>
                          <a:schemeClr val="tx1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8102">
                <a:tc>
                  <a:txBody>
                    <a:bodyPr/>
                    <a:lstStyle/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Session 2: </a:t>
                      </a:r>
                    </a:p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Large Language Models (LLMs)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Catchy Framework: "The LLM Ladder" </a:t>
                      </a:r>
                    </a:p>
                    <a:p>
                      <a:pPr marL="74295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BERT = Understanding (encoder)</a:t>
                      </a:r>
                    </a:p>
                    <a:p>
                      <a:pPr marL="74295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GPT = Generation (decoder)</a:t>
                      </a:r>
                    </a:p>
                    <a:p>
                      <a:pPr marL="74295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T5 = Translation (encoder-decoder)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Hands-on Lab: Fine-tune a small model with </a:t>
                      </a:r>
                      <a:r>
                        <a:rPr lang="en-US" sz="8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HuggingFace</a:t>
                      </a: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 </a:t>
                      </a:r>
                    </a:p>
                    <a:p>
                      <a:pPr marL="74295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Use a pre-trained BERT for text classification</a:t>
                      </a:r>
                    </a:p>
                    <a:p>
                      <a:pPr marL="74295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See the power of transfer learning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Metaphor: "Pre-training = Learning to read. Fine-tuning = Specializing in law“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Hands-on practice</a:t>
                      </a:r>
                      <a:endParaRPr lang="en-US" sz="800" b="0" i="0" u="none" strike="noStrike" cap="none" dirty="0">
                        <a:solidFill>
                          <a:schemeClr val="tx1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891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Session 3: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Generative AI Landscape</a:t>
                      </a:r>
                      <a:endParaRPr sz="1000" b="1" i="0" u="none" strike="noStrike" cap="none" dirty="0">
                        <a:solidFill>
                          <a:schemeClr val="hlink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Catchy Framework: "The Generative Trinity" 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Text (GPT, Claude, </a:t>
                      </a:r>
                      <a:r>
                        <a:rPr lang="en-US" sz="8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LLaMA</a:t>
                      </a: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Image (DALL-E, Stable Diffusion, </a:t>
                      </a:r>
                      <a:r>
                        <a:rPr lang="en-US" sz="8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Midjourney</a:t>
                      </a: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Hybrid (Multimodal models)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Conceptual Exercise: Use case matching 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Given business problems, choose the right generative model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Quick Demo: Prompt engineering best practices 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Show how prompt design affects output quality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Ethics Discussion: Bias, fairness, hallucinations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Hands-on practice</a:t>
                      </a:r>
                      <a:endParaRPr lang="en-US" sz="800" b="0" i="0" u="none" strike="noStrike" cap="none" dirty="0">
                        <a:solidFill>
                          <a:schemeClr val="tx1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Practice &amp; Daily Recap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10 DASCA-style questions on Advanced AI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Catchy Recap Phrase: "Classic ML = Rules you write. Deep Learning = Rules it learns. Generative AI = Creativity it creates."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5824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800A1-4204-4F59-80E6-8B9F7D93E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04"/>
            <a:ext cx="8061960" cy="572700"/>
          </a:xfrm>
        </p:spPr>
        <p:txBody>
          <a:bodyPr/>
          <a:lstStyle/>
          <a:p>
            <a:r>
              <a:rPr lang="en-US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DAY 4: </a:t>
            </a:r>
            <a:r>
              <a:rPr lang="en-US" sz="2000" dirty="0"/>
              <a:t>"ALIGN IT" - Strategic Frameworks &amp; Business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1567B-FAE2-41B1-A525-A65194D8E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499733"/>
            <a:ext cx="7704000" cy="443242"/>
          </a:xfrm>
        </p:spPr>
        <p:txBody>
          <a:bodyPr anchor="ctr"/>
          <a:lstStyle/>
          <a:p>
            <a:pPr marL="0" marR="0" indent="0" algn="ctr">
              <a:spcAft>
                <a:spcPts val="600"/>
              </a:spcAft>
              <a:buNone/>
            </a:pPr>
            <a:r>
              <a:rPr lang="en-US" sz="1800" i="1" dirty="0"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"From Code to Boardroom: Speaking the Language of Value“</a:t>
            </a:r>
          </a:p>
          <a:p>
            <a:pPr marL="0" marR="0" indent="0" algn="ctr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Theme:</a:t>
            </a:r>
            <a:r>
              <a:rPr lang="en-US" sz="160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 </a:t>
            </a:r>
            <a:r>
              <a:rPr lang="en-US" sz="1600" dirty="0"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Translating technical work into business outcomes</a:t>
            </a:r>
            <a:endParaRPr lang="en-US" sz="1200" b="1" dirty="0">
              <a:latin typeface="Bai Jamjuree" panose="020B0604020202020204" charset="-34"/>
              <a:cs typeface="Bai Jamjuree" panose="020B0604020202020204" charset="-34"/>
            </a:endParaRPr>
          </a:p>
        </p:txBody>
      </p:sp>
      <p:graphicFrame>
        <p:nvGraphicFramePr>
          <p:cNvPr id="5" name="Google Shape;535;p35">
            <a:extLst>
              <a:ext uri="{FF2B5EF4-FFF2-40B4-BE49-F238E27FC236}">
                <a16:creationId xmlns:a16="http://schemas.microsoft.com/office/drawing/2014/main" id="{1D404413-B2D2-4AFA-A1A6-800094E091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2335588"/>
              </p:ext>
            </p:extLst>
          </p:nvPr>
        </p:nvGraphicFramePr>
        <p:xfrm>
          <a:off x="720000" y="1128254"/>
          <a:ext cx="7704000" cy="3838756"/>
        </p:xfrm>
        <a:graphic>
          <a:graphicData uri="http://schemas.openxmlformats.org/drawingml/2006/table">
            <a:tbl>
              <a:tblPr>
                <a:noFill/>
                <a:tableStyleId>{4865F194-686D-4626-AA03-DDA16BDE0137}</a:tableStyleId>
              </a:tblPr>
              <a:tblGrid>
                <a:gridCol w="1626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Session 1: </a:t>
                      </a:r>
                    </a:p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The Business Value Framework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Catchy Framework: "The ROI Triangle" 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Revenue ↑ (increase sales, upsell)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Cost ↓ (reduce waste, automate)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Risk ↓ (compliance, safety)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"Every DS project must touch at least one vertex"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Conceptual Exercise: Project value mapping 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Given ML projects, map them to ROI triangle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Calculate simple ROI: (Benefit - Cost) / Cost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Build on DS-100 knowledge: Expand from project plans to strategic roadmaps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Hands-on practice</a:t>
                      </a:r>
                      <a:endParaRPr lang="en-US" sz="800" b="1" i="0" u="none" strike="noStrike" cap="none" dirty="0">
                        <a:solidFill>
                          <a:schemeClr val="tx1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Session 2: </a:t>
                      </a:r>
                    </a:p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Cross-Functional Collaboration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Catchy Framework: "The Stakeholder Compass" 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North (Executives): Talk money &amp; risk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East (Engineers): Talk architecture &amp; scalability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South (Operations): Talk reliability &amp; maintenance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West (Business Units): Talk outcomes &amp; KPIs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Role-Play Exercise: Present the same ML project to 4 different stakeholders 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Practice adapting message to audience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Communication Framework: BLUF (Bottom Line Up Front)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Hands-on practice</a:t>
                      </a:r>
                      <a:endParaRPr lang="en-US" sz="800" b="1" i="0" u="none" strike="noStrike" cap="none" dirty="0">
                        <a:solidFill>
                          <a:schemeClr val="tx1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Session 3: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Data Governance &amp; Ethics</a:t>
                      </a:r>
                      <a:endParaRPr sz="1000" b="1" i="0" u="none" strike="noStrike" cap="none" dirty="0">
                        <a:solidFill>
                          <a:schemeClr val="hlink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Catchy Framework: "The FAIR Principle" 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Fairness (no bias)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Accountability (who's responsible?)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Interpretability (explain decisions)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Robustness (works reliably)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Conceptual Exercise: Ethical case studies 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Credit scoring bias, Healthcare AI transparency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Group discussion on mitigation strategies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Framework: The "Bias Checklist" (data, algorithm, deployment)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</a:rPr>
                        <a:t>Hands-on practice</a:t>
                      </a:r>
                      <a:endParaRPr lang="en-US" sz="800" b="1" i="0" u="none" strike="noStrike" cap="none" dirty="0">
                        <a:solidFill>
                          <a:schemeClr val="tx1"/>
                        </a:solidFill>
                        <a:effectLst/>
                        <a:latin typeface="Bai Jamjuree" panose="020B0604020202020204" charset="-34"/>
                        <a:ea typeface="Calibri" panose="020F0502020204030204" pitchFamily="34" charset="0"/>
                        <a:cs typeface="Bai Jamjuree" panose="020B0604020202020204" charset="-34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07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Practice &amp; Daily Recap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10 DASCA-style questions on Strategic/Business topics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8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Catchy Recap Phrase: "Technical excellence without business alignment = Expensive hobby."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088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800A1-4204-4F59-80E6-8B9F7D93E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804"/>
            <a:ext cx="8061960" cy="572700"/>
          </a:xfrm>
        </p:spPr>
        <p:txBody>
          <a:bodyPr/>
          <a:lstStyle/>
          <a:p>
            <a:r>
              <a:rPr lang="en-US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DAY 5: </a:t>
            </a:r>
            <a:r>
              <a:rPr lang="en-US" sz="2000" dirty="0"/>
              <a:t>"SUMMIT" - Integration Workshop + Mock Exam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41567B-FAE2-41B1-A525-A65194D8E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499733"/>
            <a:ext cx="7704000" cy="572701"/>
          </a:xfrm>
        </p:spPr>
        <p:txBody>
          <a:bodyPr anchor="ctr"/>
          <a:lstStyle/>
          <a:p>
            <a:pPr marL="0" marR="0" indent="0" algn="ctr">
              <a:spcAft>
                <a:spcPts val="600"/>
              </a:spcAft>
              <a:buNone/>
            </a:pPr>
            <a:r>
              <a:rPr lang="en-US" sz="1800" i="1" dirty="0"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"Putting It All Together“</a:t>
            </a:r>
          </a:p>
          <a:p>
            <a:pPr marL="0" marR="0" indent="0" algn="ctr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Theme:</a:t>
            </a:r>
            <a:r>
              <a:rPr lang="en-US" sz="1600" dirty="0">
                <a:solidFill>
                  <a:schemeClr val="accent3">
                    <a:lumMod val="20000"/>
                    <a:lumOff val="80000"/>
                  </a:schemeClr>
                </a:solidFill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 </a:t>
            </a:r>
            <a:r>
              <a:rPr lang="en-US" sz="1600" dirty="0">
                <a:effectLst/>
                <a:latin typeface="Bai Jamjuree" panose="020B0604020202020204" charset="-34"/>
                <a:ea typeface="Calibri" panose="020F0502020204030204" pitchFamily="34" charset="0"/>
                <a:cs typeface="Bai Jamjuree" panose="020B0604020202020204" charset="-34"/>
              </a:rPr>
              <a:t>End-to-end scenario from business problem to deployed solution</a:t>
            </a:r>
            <a:endParaRPr lang="en-US" sz="1600" b="1" dirty="0">
              <a:latin typeface="Bai Jamjuree" panose="020B0604020202020204" charset="-34"/>
              <a:cs typeface="Bai Jamjuree" panose="020B0604020202020204" charset="-34"/>
            </a:endParaRPr>
          </a:p>
        </p:txBody>
      </p:sp>
      <p:graphicFrame>
        <p:nvGraphicFramePr>
          <p:cNvPr id="5" name="Google Shape;535;p35">
            <a:extLst>
              <a:ext uri="{FF2B5EF4-FFF2-40B4-BE49-F238E27FC236}">
                <a16:creationId xmlns:a16="http://schemas.microsoft.com/office/drawing/2014/main" id="{1D404413-B2D2-4AFA-A1A6-800094E091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1276445"/>
              </p:ext>
            </p:extLst>
          </p:nvPr>
        </p:nvGraphicFramePr>
        <p:xfrm>
          <a:off x="720000" y="1225974"/>
          <a:ext cx="7704000" cy="3627120"/>
        </p:xfrm>
        <a:graphic>
          <a:graphicData uri="http://schemas.openxmlformats.org/drawingml/2006/table">
            <a:tbl>
              <a:tblPr>
                <a:noFill/>
                <a:tableStyleId>{4865F194-686D-4626-AA03-DDA16BDE0137}</a:tableStyleId>
              </a:tblPr>
              <a:tblGrid>
                <a:gridCol w="1626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7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Session 1: </a:t>
                      </a:r>
                    </a:p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Integration Mini-Project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Scenario: Predictive maintenance for oil &amp; gas equipment (relevant to their industry!)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Group Activity: Design the complete solution 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Business case (ROI calculation)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Data architecture (Big Data/Cloud)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Model selection (ML + potential generative AI for reports)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Deployment plan (</a:t>
                      </a:r>
                      <a:r>
                        <a:rPr lang="en-US" sz="9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MLOps</a:t>
                      </a: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 pipeline)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Monitoring strategy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Ethical considerations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Deliverable: 5-slide presentation (each group presents)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Session 2: </a:t>
                      </a:r>
                    </a:p>
                    <a:p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Cross-Domain Review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Game: "Connect the Dots" - rapid-fire questions connecting concepts across days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Catchy Framework Review: Go through all the frameworks from Days 1-4 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3 V's + 2 C's (Scale)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3 R's of </a:t>
                      </a:r>
                      <a:r>
                        <a:rPr lang="en-US" sz="9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MLOps</a:t>
                      </a: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 (Production)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Attention = Spotlight (Transformers)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ROI Triangle (Business)</a:t>
                      </a:r>
                    </a:p>
                    <a:p>
                      <a:pPr marL="845820" marR="0" lvl="1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9144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FAIR Principle (Ethics)</a:t>
                      </a:r>
                    </a:p>
                    <a:p>
                      <a:pPr marL="44577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Memory Palace Technique: Create mental journey through the 5 days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Session 3: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FULL MOCK EXAM (85 questions, 100 minutes)</a:t>
                      </a:r>
                      <a:endParaRPr sz="1000" b="1" i="0" u="none" strike="noStrike" cap="none" dirty="0">
                        <a:solidFill>
                          <a:schemeClr val="hlink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Timed exam simulating real DASCA format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Mix of Type A (concepts), Type B (advanced understanding), Type C (implementation)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Cover all 7 exam clusters with proper weightings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Session 4: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i="0" u="none" strike="noStrike" cap="none" dirty="0">
                          <a:solidFill>
                            <a:schemeClr val="hlink"/>
                          </a:solidFill>
                          <a:latin typeface="Bai Jamjuree"/>
                          <a:ea typeface="Arial"/>
                          <a:cs typeface="Bai Jamjuree"/>
                          <a:sym typeface="Arial"/>
                        </a:rPr>
                        <a:t>Mock Exam Debrief &amp; Action Plan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Review answers (focus on most-missed questions)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Identify weak areas for each student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Personal study plan for remaining time before actual exam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Resource list: Where to practice more (practice tests, documentation)</a:t>
                      </a:r>
                    </a:p>
                    <a:p>
                      <a:pPr marL="342900" marR="0" lvl="0" indent="-18288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3">
                            <a:lumMod val="40000"/>
                            <a:lumOff val="60000"/>
                          </a:schemeClr>
                        </a:buClr>
                        <a:buSzPts val="1000"/>
                        <a:buFont typeface="Wingdings" panose="05000000000000000000" pitchFamily="2" charset="2"/>
                        <a:buChar char="§"/>
                        <a:tabLst>
                          <a:tab pos="457200" algn="l"/>
                        </a:tabLst>
                      </a:pPr>
                      <a:r>
                        <a:rPr lang="en-US" sz="9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Bai Jamjuree" panose="020B0604020202020204" charset="-34"/>
                          <a:ea typeface="Calibri" panose="020F0502020204030204" pitchFamily="34" charset="0"/>
                          <a:cs typeface="Bai Jamjuree" panose="020B0604020202020204" charset="-34"/>
                          <a:sym typeface="Arial"/>
                        </a:rPr>
                        <a:t>Final motivational message: They have the foundation, now they have the gaps filled!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058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7581-D31E-037A-E0A4-5C5D2367D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Chapters Coverage Analysis</a:t>
            </a: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1E1941BD-C500-1C0C-3B99-4212094E0E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777389"/>
              </p:ext>
            </p:extLst>
          </p:nvPr>
        </p:nvGraphicFramePr>
        <p:xfrm>
          <a:off x="419100" y="1412875"/>
          <a:ext cx="8305800" cy="225552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384300">
                  <a:extLst>
                    <a:ext uri="{9D8B030D-6E8A-4147-A177-3AD203B41FA5}">
                      <a16:colId xmlns:a16="http://schemas.microsoft.com/office/drawing/2014/main" val="1160235014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3717726855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080043625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4124517964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834252633"/>
                    </a:ext>
                  </a:extLst>
                </a:gridCol>
                <a:gridCol w="1504950">
                  <a:extLst>
                    <a:ext uri="{9D8B030D-6E8A-4147-A177-3AD203B41FA5}">
                      <a16:colId xmlns:a16="http://schemas.microsoft.com/office/drawing/2014/main" val="16653625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Module</a:t>
                      </a:r>
                      <a:endParaRPr lang="en-US" dirty="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Total Chapters</a:t>
                      </a:r>
                      <a:endParaRPr lang="en-US" dirty="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Bai Jamjuree" panose="020B0604020202020204" charset="-34"/>
                          <a:cs typeface="Bai Jamjuree" panose="020B0604020202020204" charset="-34"/>
                        </a:rPr>
                        <a:t>Fully Covered</a:t>
                      </a:r>
                      <a:endParaRPr lang="en-US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Bai Jamjuree" panose="020B0604020202020204" charset="-34"/>
                          <a:cs typeface="Bai Jamjuree" panose="020B0604020202020204" charset="-34"/>
                        </a:rPr>
                        <a:t>Partially Covered</a:t>
                      </a:r>
                      <a:endParaRPr lang="en-US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Bai Jamjuree" panose="020B0604020202020204" charset="-34"/>
                          <a:cs typeface="Bai Jamjuree" panose="020B0604020202020204" charset="-34"/>
                        </a:rPr>
                        <a:t>Not Covered</a:t>
                      </a:r>
                      <a:endParaRPr lang="en-US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>
                          <a:latin typeface="Bai Jamjuree" panose="020B0604020202020204" charset="-34"/>
                          <a:cs typeface="Bai Jamjuree" panose="020B0604020202020204" charset="-34"/>
                        </a:rPr>
                        <a:t>Priority</a:t>
                      </a:r>
                      <a:endParaRPr lang="en-US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5704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Module 1</a:t>
                      </a:r>
                      <a:endParaRPr lang="en-US" dirty="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🔴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1630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Module 2</a:t>
                      </a:r>
                      <a:endParaRPr lang="en-US" dirty="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🟢 LOW (review)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5177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latin typeface="Bai Jamjuree" panose="020B0604020202020204" charset="-34"/>
                          <a:cs typeface="Bai Jamjuree" panose="020B0604020202020204" charset="-34"/>
                        </a:rPr>
                        <a:t>Module 3</a:t>
                      </a:r>
                      <a:endParaRPr lang="en-US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🔴 </a:t>
                      </a:r>
                      <a:r>
                        <a:rPr lang="en-US" b="1">
                          <a:latin typeface="Bai Jamjuree" panose="020B0604020202020204" charset="-34"/>
                          <a:cs typeface="Bai Jamjuree" panose="020B0604020202020204" charset="-34"/>
                        </a:rPr>
                        <a:t>CRITICAL</a:t>
                      </a:r>
                      <a:endParaRPr lang="en-US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4205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latin typeface="Bai Jamjuree" panose="020B0604020202020204" charset="-34"/>
                          <a:cs typeface="Bai Jamjuree" panose="020B0604020202020204" charset="-34"/>
                        </a:rPr>
                        <a:t>Module 4</a:t>
                      </a:r>
                      <a:endParaRPr lang="en-US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🔴 </a:t>
                      </a:r>
                      <a:r>
                        <a:rPr lang="en-US" b="1">
                          <a:latin typeface="Bai Jamjuree" panose="020B0604020202020204" charset="-34"/>
                          <a:cs typeface="Bai Jamjuree" panose="020B0604020202020204" charset="-34"/>
                        </a:rPr>
                        <a:t>CRITICAL</a:t>
                      </a:r>
                      <a:endParaRPr lang="en-US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2382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latin typeface="Bai Jamjuree" panose="020B0604020202020204" charset="-34"/>
                          <a:cs typeface="Bai Jamjuree" panose="020B0604020202020204" charset="-34"/>
                        </a:rPr>
                        <a:t>Module 5</a:t>
                      </a:r>
                      <a:endParaRPr lang="en-US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Bai Jamjuree" panose="020B0604020202020204" charset="-34"/>
                          <a:cs typeface="Bai Jamjuree" panose="020B0604020202020204" charset="-34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🔴 </a:t>
                      </a:r>
                      <a:r>
                        <a:rPr lang="en-US" b="1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CRITICAL</a:t>
                      </a:r>
                      <a:endParaRPr lang="en-US" dirty="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7360912"/>
                  </a:ext>
                </a:extLst>
              </a:tr>
            </a:tbl>
          </a:graphicData>
        </a:graphic>
      </p:graphicFrame>
      <p:sp>
        <p:nvSpPr>
          <p:cNvPr id="45" name="Title 1">
            <a:extLst>
              <a:ext uri="{FF2B5EF4-FFF2-40B4-BE49-F238E27FC236}">
                <a16:creationId xmlns:a16="http://schemas.microsoft.com/office/drawing/2014/main" id="{D0063793-5459-4B98-8D65-4607A00EDCDB}"/>
              </a:ext>
            </a:extLst>
          </p:cNvPr>
          <p:cNvSpPr txBox="1">
            <a:spLocks/>
          </p:cNvSpPr>
          <p:nvPr/>
        </p:nvSpPr>
        <p:spPr>
          <a:xfrm>
            <a:off x="720000" y="39375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1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ctr"/>
            <a:r>
              <a:rPr lang="en-US" sz="2800" i="1" dirty="0">
                <a:latin typeface="Bai Jamjuree" panose="020B0604020202020204" charset="-34"/>
                <a:cs typeface="Bai Jamjuree" panose="020B0604020202020204" charset="-34"/>
              </a:rPr>
              <a:t>Detailed in next slides</a:t>
            </a:r>
          </a:p>
        </p:txBody>
      </p:sp>
    </p:spTree>
    <p:extLst>
      <p:ext uri="{BB962C8B-B14F-4D97-AF65-F5344CB8AC3E}">
        <p14:creationId xmlns:p14="http://schemas.microsoft.com/office/powerpoint/2010/main" val="24517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7581-D31E-037A-E0A4-5C5D2367D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88" y="178325"/>
            <a:ext cx="8944824" cy="572700"/>
          </a:xfrm>
        </p:spPr>
        <p:txBody>
          <a:bodyPr/>
          <a:lstStyle/>
          <a:p>
            <a:pPr algn="ctr"/>
            <a:r>
              <a:rPr lang="en-US" sz="1800" dirty="0"/>
              <a:t>MODULE 1: Data Science Applications and Business Impact (15% of exam)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E188E78-72ED-79DF-99E3-3BE3E1EB8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686267"/>
              </p:ext>
            </p:extLst>
          </p:nvPr>
        </p:nvGraphicFramePr>
        <p:xfrm>
          <a:off x="720000" y="685625"/>
          <a:ext cx="7419065" cy="390465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861150">
                  <a:extLst>
                    <a:ext uri="{9D8B030D-6E8A-4147-A177-3AD203B41FA5}">
                      <a16:colId xmlns:a16="http://schemas.microsoft.com/office/drawing/2014/main" val="4138508877"/>
                    </a:ext>
                  </a:extLst>
                </a:gridCol>
                <a:gridCol w="2106476">
                  <a:extLst>
                    <a:ext uri="{9D8B030D-6E8A-4147-A177-3AD203B41FA5}">
                      <a16:colId xmlns:a16="http://schemas.microsoft.com/office/drawing/2014/main" val="1323636554"/>
                    </a:ext>
                  </a:extLst>
                </a:gridCol>
                <a:gridCol w="1483813">
                  <a:extLst>
                    <a:ext uri="{9D8B030D-6E8A-4147-A177-3AD203B41FA5}">
                      <a16:colId xmlns:a16="http://schemas.microsoft.com/office/drawing/2014/main" val="278998671"/>
                    </a:ext>
                  </a:extLst>
                </a:gridCol>
                <a:gridCol w="1483813">
                  <a:extLst>
                    <a:ext uri="{9D8B030D-6E8A-4147-A177-3AD203B41FA5}">
                      <a16:colId xmlns:a16="http://schemas.microsoft.com/office/drawing/2014/main" val="1341802186"/>
                    </a:ext>
                  </a:extLst>
                </a:gridCol>
                <a:gridCol w="1483813">
                  <a:extLst>
                    <a:ext uri="{9D8B030D-6E8A-4147-A177-3AD203B41FA5}">
                      <a16:colId xmlns:a16="http://schemas.microsoft.com/office/drawing/2014/main" val="309653719"/>
                    </a:ext>
                  </a:extLst>
                </a:gridCol>
              </a:tblGrid>
              <a:tr h="13450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#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Chapter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Covered?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Source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Status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extLst>
                  <a:ext uri="{0D108BD9-81ED-4DB2-BD59-A6C34878D82A}">
                    <a16:rowId xmlns:a16="http://schemas.microsoft.com/office/drawing/2014/main" val="2018941752"/>
                  </a:ext>
                </a:extLst>
              </a:tr>
              <a:tr h="32280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1.1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ML Applications in Finance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Partial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DS-100 (business case basics)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⚠️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EXPAND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extLst>
                  <a:ext uri="{0D108BD9-81ED-4DB2-BD59-A6C34878D82A}">
                    <a16:rowId xmlns:a16="http://schemas.microsoft.com/office/drawing/2014/main" val="4260812432"/>
                  </a:ext>
                </a:extLst>
              </a:tr>
              <a:tr h="13450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1.1.1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Fraud Detection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extLst>
                  <a:ext uri="{0D108BD9-81ED-4DB2-BD59-A6C34878D82A}">
                    <a16:rowId xmlns:a16="http://schemas.microsoft.com/office/drawing/2014/main" val="964358109"/>
                  </a:ext>
                </a:extLst>
              </a:tr>
              <a:tr h="22865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1.1.2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Algorithmic Trading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extLst>
                  <a:ext uri="{0D108BD9-81ED-4DB2-BD59-A6C34878D82A}">
                    <a16:rowId xmlns:a16="http://schemas.microsoft.com/office/drawing/2014/main" val="1950715026"/>
                  </a:ext>
                </a:extLst>
              </a:tr>
              <a:tr h="22865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1.1.3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Credit Scoring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Partial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DS-120 (classification)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⚠️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EXPAND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extLst>
                  <a:ext uri="{0D108BD9-81ED-4DB2-BD59-A6C34878D82A}">
                    <a16:rowId xmlns:a16="http://schemas.microsoft.com/office/drawing/2014/main" val="4250525581"/>
                  </a:ext>
                </a:extLst>
              </a:tr>
              <a:tr h="22865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1.1.4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Portfolio Optimization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extLst>
                  <a:ext uri="{0D108BD9-81ED-4DB2-BD59-A6C34878D82A}">
                    <a16:rowId xmlns:a16="http://schemas.microsoft.com/office/drawing/2014/main" val="2730093684"/>
                  </a:ext>
                </a:extLst>
              </a:tr>
              <a:tr h="13450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1.2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ML in Healthcare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extLst>
                  <a:ext uri="{0D108BD9-81ED-4DB2-BD59-A6C34878D82A}">
                    <a16:rowId xmlns:a16="http://schemas.microsoft.com/office/drawing/2014/main" val="1500165340"/>
                  </a:ext>
                </a:extLst>
              </a:tr>
              <a:tr h="13450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1.3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ML in Retail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extLst>
                  <a:ext uri="{0D108BD9-81ED-4DB2-BD59-A6C34878D82A}">
                    <a16:rowId xmlns:a16="http://schemas.microsoft.com/office/drawing/2014/main" val="2693367993"/>
                  </a:ext>
                </a:extLst>
              </a:tr>
              <a:tr h="22865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1.4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ML in HR &amp; Workforce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extLst>
                  <a:ext uri="{0D108BD9-81ED-4DB2-BD59-A6C34878D82A}">
                    <a16:rowId xmlns:a16="http://schemas.microsoft.com/office/drawing/2014/main" val="4198675100"/>
                  </a:ext>
                </a:extLst>
              </a:tr>
              <a:tr h="22865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1.5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ML in Manufacturing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extLst>
                  <a:ext uri="{0D108BD9-81ED-4DB2-BD59-A6C34878D82A}">
                    <a16:rowId xmlns:a16="http://schemas.microsoft.com/office/drawing/2014/main" val="1556493957"/>
                  </a:ext>
                </a:extLst>
              </a:tr>
              <a:tr h="22865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1.6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ML in Supply Chain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extLst>
                  <a:ext uri="{0D108BD9-81ED-4DB2-BD59-A6C34878D82A}">
                    <a16:rowId xmlns:a16="http://schemas.microsoft.com/office/drawing/2014/main" val="1501962847"/>
                  </a:ext>
                </a:extLst>
              </a:tr>
              <a:tr h="22865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1.7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Recommendation Systems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extLst>
                  <a:ext uri="{0D108BD9-81ED-4DB2-BD59-A6C34878D82A}">
                    <a16:rowId xmlns:a16="http://schemas.microsoft.com/office/drawing/2014/main" val="395920428"/>
                  </a:ext>
                </a:extLst>
              </a:tr>
              <a:tr h="22865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1.8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Computer Vision Applications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Partial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DS-122 (CNN basics)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⚠️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EXPAND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extLst>
                  <a:ext uri="{0D108BD9-81ED-4DB2-BD59-A6C34878D82A}">
                    <a16:rowId xmlns:a16="http://schemas.microsoft.com/office/drawing/2014/main" val="2982243372"/>
                  </a:ext>
                </a:extLst>
              </a:tr>
              <a:tr h="13450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1.9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NLP Applications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extLst>
                  <a:ext uri="{0D108BD9-81ED-4DB2-BD59-A6C34878D82A}">
                    <a16:rowId xmlns:a16="http://schemas.microsoft.com/office/drawing/2014/main" val="2268324969"/>
                  </a:ext>
                </a:extLst>
              </a:tr>
              <a:tr h="13450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1.10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IoT &amp; TinyML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extLst>
                  <a:ext uri="{0D108BD9-81ED-4DB2-BD59-A6C34878D82A}">
                    <a16:rowId xmlns:a16="http://schemas.microsoft.com/office/drawing/2014/main" val="2192319807"/>
                  </a:ext>
                </a:extLst>
              </a:tr>
              <a:tr h="22865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1.11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Business Value Frameworks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Minimal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DS-100 (project lifecycle)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⚠️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EXPAND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extLst>
                  <a:ext uri="{0D108BD9-81ED-4DB2-BD59-A6C34878D82A}">
                    <a16:rowId xmlns:a16="http://schemas.microsoft.com/office/drawing/2014/main" val="1956340495"/>
                  </a:ext>
                </a:extLst>
              </a:tr>
              <a:tr h="22865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1.12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ROI &amp; Analytics Leadership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40350" marR="40350" marT="20175" marB="20175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 dirty="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40350" marR="40350" marT="20175" marB="20175" anchor="ctr"/>
                </a:tc>
                <a:extLst>
                  <a:ext uri="{0D108BD9-81ED-4DB2-BD59-A6C34878D82A}">
                    <a16:rowId xmlns:a16="http://schemas.microsoft.com/office/drawing/2014/main" val="438252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5604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7581-D31E-037A-E0A4-5C5D2367D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88" y="103005"/>
            <a:ext cx="8944824" cy="572700"/>
          </a:xfrm>
        </p:spPr>
        <p:txBody>
          <a:bodyPr/>
          <a:lstStyle/>
          <a:p>
            <a:pPr algn="ctr"/>
            <a:r>
              <a:rPr lang="en-US" sz="1800" dirty="0"/>
              <a:t>MODULE 2: Core Data Essentials (15% of exam)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C85818F-CD60-9A9D-EA67-AD0C7C7BA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638419"/>
              </p:ext>
            </p:extLst>
          </p:nvPr>
        </p:nvGraphicFramePr>
        <p:xfrm>
          <a:off x="295276" y="543804"/>
          <a:ext cx="8553450" cy="3944446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803274">
                  <a:extLst>
                    <a:ext uri="{9D8B030D-6E8A-4147-A177-3AD203B41FA5}">
                      <a16:colId xmlns:a16="http://schemas.microsoft.com/office/drawing/2014/main" val="414230446"/>
                    </a:ext>
                  </a:extLst>
                </a:gridCol>
                <a:gridCol w="2618106">
                  <a:extLst>
                    <a:ext uri="{9D8B030D-6E8A-4147-A177-3AD203B41FA5}">
                      <a16:colId xmlns:a16="http://schemas.microsoft.com/office/drawing/2014/main" val="154225725"/>
                    </a:ext>
                  </a:extLst>
                </a:gridCol>
                <a:gridCol w="1710690">
                  <a:extLst>
                    <a:ext uri="{9D8B030D-6E8A-4147-A177-3AD203B41FA5}">
                      <a16:colId xmlns:a16="http://schemas.microsoft.com/office/drawing/2014/main" val="1520754161"/>
                    </a:ext>
                  </a:extLst>
                </a:gridCol>
                <a:gridCol w="1710690">
                  <a:extLst>
                    <a:ext uri="{9D8B030D-6E8A-4147-A177-3AD203B41FA5}">
                      <a16:colId xmlns:a16="http://schemas.microsoft.com/office/drawing/2014/main" val="3487862535"/>
                    </a:ext>
                  </a:extLst>
                </a:gridCol>
                <a:gridCol w="1710690">
                  <a:extLst>
                    <a:ext uri="{9D8B030D-6E8A-4147-A177-3AD203B41FA5}">
                      <a16:colId xmlns:a16="http://schemas.microsoft.com/office/drawing/2014/main" val="2905762835"/>
                    </a:ext>
                  </a:extLst>
                </a:gridCol>
              </a:tblGrid>
              <a:tr h="92084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#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Chapter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Covered?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Source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Status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15842668"/>
                  </a:ext>
                </a:extLst>
              </a:tr>
              <a:tr h="22100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2.1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Data Science &amp; ML Programming Toolkit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4170677888"/>
                  </a:ext>
                </a:extLst>
              </a:tr>
              <a:tr h="15654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2.1.1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Python Programming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Yes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DS-110, DS-100-123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✅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MASTERED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3394646706"/>
                  </a:ext>
                </a:extLst>
              </a:tr>
              <a:tr h="15654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2.1.2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GitHub &amp; Version Control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3655256294"/>
                  </a:ext>
                </a:extLst>
              </a:tr>
              <a:tr h="15654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2.1.3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Google Colab &amp; Jupyter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Yes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DS-100-123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✅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STRONG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1330953494"/>
                  </a:ext>
                </a:extLst>
              </a:tr>
              <a:tr h="15654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2.2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Exploratory Data Analysis (EDA)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608306320"/>
                  </a:ext>
                </a:extLst>
              </a:tr>
              <a:tr h="15654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2.2.1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Visualization Methods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Yes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DS-110, DS-100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✅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STRONG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216699757"/>
                  </a:ext>
                </a:extLst>
              </a:tr>
              <a:tr h="92084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2.2.2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Data Profiling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Yes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DS-110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✅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STRONG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3907599136"/>
                  </a:ext>
                </a:extLst>
              </a:tr>
              <a:tr h="15654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2.2.3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Statistical Summarization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Yes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DS-110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✅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MASTERED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857574475"/>
                  </a:ext>
                </a:extLst>
              </a:tr>
              <a:tr h="15654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2.3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Statistics Fundamentals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Yes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DS-110 (full coverage)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✅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MASTERED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1653272349"/>
                  </a:ext>
                </a:extLst>
              </a:tr>
              <a:tr h="15654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2.4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Probability Theory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Yes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DS-110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✅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MASTERED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3028288814"/>
                  </a:ext>
                </a:extLst>
              </a:tr>
              <a:tr h="15654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2.5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Linear Algebra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Yes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DS-110 (SVD, PCA, matrices)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✅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MASTERED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2077479188"/>
                  </a:ext>
                </a:extLst>
              </a:tr>
              <a:tr h="22100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2.6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Machine Learning Fundamentals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674654561"/>
                  </a:ext>
                </a:extLst>
              </a:tr>
              <a:tr h="15654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2.6.1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Supervised Learning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Yes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DS-120 (comprehensive)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✅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MASTERED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1330729034"/>
                  </a:ext>
                </a:extLst>
              </a:tr>
              <a:tr h="15654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2.6.2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Unsupervised Learning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Yes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DS-121 (comprehensive)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✅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MASTERED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2916689143"/>
                  </a:ext>
                </a:extLst>
              </a:tr>
              <a:tr h="15654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2.6.3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Model Evaluation &amp; Selection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Yes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DS-120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✅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MASTERED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2664782621"/>
                  </a:ext>
                </a:extLst>
              </a:tr>
              <a:tr h="15654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2.6.4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Feature Engineering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Yes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DS-110, DS-120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✅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STRONG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4107595438"/>
                  </a:ext>
                </a:extLst>
              </a:tr>
              <a:tr h="15654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2.7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Neural Networks Basics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Yes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DS-122 (MLP, CNN)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✅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GOOD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466380235"/>
                  </a:ext>
                </a:extLst>
              </a:tr>
              <a:tr h="22100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2.8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Natural Language Processing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3432724127"/>
                  </a:ext>
                </a:extLst>
              </a:tr>
              <a:tr h="15654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2.9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Time Series Analysis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Yes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DS-123 (comprehensive)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✅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STRONG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3057803891"/>
                  </a:ext>
                </a:extLst>
              </a:tr>
              <a:tr h="22100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2.10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Software Engineering Best Practices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7625" marR="27625" marT="13813" marB="13813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 dirty="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7625" marR="27625" marT="13813" marB="13813" anchor="ctr"/>
                </a:tc>
                <a:extLst>
                  <a:ext uri="{0D108BD9-81ED-4DB2-BD59-A6C34878D82A}">
                    <a16:rowId xmlns:a16="http://schemas.microsoft.com/office/drawing/2014/main" val="1040050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2406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7581-D31E-037A-E0A4-5C5D2367D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88" y="92600"/>
            <a:ext cx="8944824" cy="572700"/>
          </a:xfrm>
        </p:spPr>
        <p:txBody>
          <a:bodyPr/>
          <a:lstStyle/>
          <a:p>
            <a:pPr algn="ctr"/>
            <a:r>
              <a:rPr lang="en-US" sz="1800" dirty="0"/>
              <a:t>MODULE 3: Big Data, Real-Time Systems &amp; Cloud Platforms (17% of exam)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0A7E52-EBEC-C8CD-1820-6AC4E143F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819938"/>
              </p:ext>
            </p:extLst>
          </p:nvPr>
        </p:nvGraphicFramePr>
        <p:xfrm>
          <a:off x="99588" y="512900"/>
          <a:ext cx="8944825" cy="4559475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976737">
                  <a:extLst>
                    <a:ext uri="{9D8B030D-6E8A-4147-A177-3AD203B41FA5}">
                      <a16:colId xmlns:a16="http://schemas.microsoft.com/office/drawing/2014/main" val="1381655264"/>
                    </a:ext>
                  </a:extLst>
                </a:gridCol>
                <a:gridCol w="2601193">
                  <a:extLst>
                    <a:ext uri="{9D8B030D-6E8A-4147-A177-3AD203B41FA5}">
                      <a16:colId xmlns:a16="http://schemas.microsoft.com/office/drawing/2014/main" val="643808604"/>
                    </a:ext>
                  </a:extLst>
                </a:gridCol>
                <a:gridCol w="1788965">
                  <a:extLst>
                    <a:ext uri="{9D8B030D-6E8A-4147-A177-3AD203B41FA5}">
                      <a16:colId xmlns:a16="http://schemas.microsoft.com/office/drawing/2014/main" val="878203808"/>
                    </a:ext>
                  </a:extLst>
                </a:gridCol>
                <a:gridCol w="1788965">
                  <a:extLst>
                    <a:ext uri="{9D8B030D-6E8A-4147-A177-3AD203B41FA5}">
                      <a16:colId xmlns:a16="http://schemas.microsoft.com/office/drawing/2014/main" val="2833578062"/>
                    </a:ext>
                  </a:extLst>
                </a:gridCol>
                <a:gridCol w="1788965">
                  <a:extLst>
                    <a:ext uri="{9D8B030D-6E8A-4147-A177-3AD203B41FA5}">
                      <a16:colId xmlns:a16="http://schemas.microsoft.com/office/drawing/2014/main" val="4057278917"/>
                    </a:ext>
                  </a:extLst>
                </a:gridCol>
              </a:tblGrid>
              <a:tr h="6860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#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Chapter</a:t>
                      </a:r>
                      <a:endParaRPr lang="en-US" sz="1000" dirty="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Covered?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Source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Status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3214863851"/>
                  </a:ext>
                </a:extLst>
              </a:tr>
              <a:tr h="11662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3.1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Modern Data Architectures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4225366321"/>
                  </a:ext>
                </a:extLst>
              </a:tr>
              <a:tr h="16464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3.1.1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Data Lakes vs. Data Warehouses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2937670085"/>
                  </a:ext>
                </a:extLst>
              </a:tr>
              <a:tr h="21266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3.1.2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Data Lakehouses (Delta Lake, Iceberg)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3845394079"/>
                  </a:ext>
                </a:extLst>
              </a:tr>
              <a:tr h="16464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3.1.3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Schema-on-read vs. Schema-on-write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3119428191"/>
                  </a:ext>
                </a:extLst>
              </a:tr>
              <a:tr h="11662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3.2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Cloud Storage Solutions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3384889973"/>
                  </a:ext>
                </a:extLst>
              </a:tr>
              <a:tr h="11662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3.2.1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AWS (S3, EBS, Glacier)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3405764631"/>
                  </a:ext>
                </a:extLst>
              </a:tr>
              <a:tr h="195294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3.2.2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Azure (Blob Storage, Data Lake Storage)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1477789096"/>
                  </a:ext>
                </a:extLst>
              </a:tr>
              <a:tr h="16464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3.2.3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GCP (Cloud Storage, BigQuery)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3649413233"/>
                  </a:ext>
                </a:extLst>
              </a:tr>
              <a:tr h="16464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3.3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Distributed Processing Frameworks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458526541"/>
                  </a:ext>
                </a:extLst>
              </a:tr>
              <a:tr h="16464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3.3.1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Apache Spark (DataFrames, MLlib)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59206292"/>
                  </a:ext>
                </a:extLst>
              </a:tr>
              <a:tr h="6860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3.3.2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Dask for Python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2709235482"/>
                  </a:ext>
                </a:extLst>
              </a:tr>
              <a:tr h="16464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3.3.3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Batch vs. Streaming Processing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259608303"/>
                  </a:ext>
                </a:extLst>
              </a:tr>
              <a:tr h="16464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3.4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Real-Time Streaming Systems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2800812017"/>
                  </a:ext>
                </a:extLst>
              </a:tr>
              <a:tr h="6860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3.4.1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Apache Kafka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3631682112"/>
                  </a:ext>
                </a:extLst>
              </a:tr>
              <a:tr h="6860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3.4.2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Apache Flink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1941340950"/>
                  </a:ext>
                </a:extLst>
              </a:tr>
              <a:tr h="6860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3.4.3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ksqlDB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4150629369"/>
                  </a:ext>
                </a:extLst>
              </a:tr>
              <a:tr h="16464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3.5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Data Governance at Scale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2054945440"/>
                  </a:ext>
                </a:extLst>
              </a:tr>
              <a:tr h="11662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3.5.1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Metadata Management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2831495346"/>
                  </a:ext>
                </a:extLst>
              </a:tr>
              <a:tr h="11662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3.5.2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Data Lineage &amp; Cataloging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2032219314"/>
                  </a:ext>
                </a:extLst>
              </a:tr>
              <a:tr h="16464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3.5.3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Master Data Management (MDM)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590651944"/>
                  </a:ext>
                </a:extLst>
              </a:tr>
              <a:tr h="11662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3.6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Vector Databases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1339560065"/>
                  </a:ext>
                </a:extLst>
              </a:tr>
              <a:tr h="16464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3.6.1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Weaviate, Pinecone, Chroma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1160721120"/>
                  </a:ext>
                </a:extLst>
              </a:tr>
              <a:tr h="11662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3.7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Containerization &amp; Orchestration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2735635617"/>
                  </a:ext>
                </a:extLst>
              </a:tr>
              <a:tr h="11662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3.7.1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Docker Fundamentals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3632948012"/>
                  </a:ext>
                </a:extLst>
              </a:tr>
              <a:tr h="116621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3.7.2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Kubernetes Basics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0580" marR="20580" marT="10290" marB="1029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 dirty="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0580" marR="20580" marT="10290" marB="10290" anchor="ctr"/>
                </a:tc>
                <a:extLst>
                  <a:ext uri="{0D108BD9-81ED-4DB2-BD59-A6C34878D82A}">
                    <a16:rowId xmlns:a16="http://schemas.microsoft.com/office/drawing/2014/main" val="2336401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84090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7581-D31E-037A-E0A4-5C5D2367D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88" y="92600"/>
            <a:ext cx="8944824" cy="572700"/>
          </a:xfrm>
        </p:spPr>
        <p:txBody>
          <a:bodyPr/>
          <a:lstStyle/>
          <a:p>
            <a:pPr algn="ctr"/>
            <a:r>
              <a:rPr lang="en-US" sz="1800" dirty="0"/>
              <a:t>MODULE 4: Advanced Data Science &amp; Generative AI (10% of exam)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F513AB-FEF8-C9EF-FC55-11842E19B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358601"/>
              </p:ext>
            </p:extLst>
          </p:nvPr>
        </p:nvGraphicFramePr>
        <p:xfrm>
          <a:off x="209550" y="892672"/>
          <a:ext cx="8724900" cy="3800871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828674">
                  <a:extLst>
                    <a:ext uri="{9D8B030D-6E8A-4147-A177-3AD203B41FA5}">
                      <a16:colId xmlns:a16="http://schemas.microsoft.com/office/drawing/2014/main" val="2547405073"/>
                    </a:ext>
                  </a:extLst>
                </a:gridCol>
                <a:gridCol w="2661286">
                  <a:extLst>
                    <a:ext uri="{9D8B030D-6E8A-4147-A177-3AD203B41FA5}">
                      <a16:colId xmlns:a16="http://schemas.microsoft.com/office/drawing/2014/main" val="4061121757"/>
                    </a:ext>
                  </a:extLst>
                </a:gridCol>
                <a:gridCol w="1744980">
                  <a:extLst>
                    <a:ext uri="{9D8B030D-6E8A-4147-A177-3AD203B41FA5}">
                      <a16:colId xmlns:a16="http://schemas.microsoft.com/office/drawing/2014/main" val="3653487291"/>
                    </a:ext>
                  </a:extLst>
                </a:gridCol>
                <a:gridCol w="1744980">
                  <a:extLst>
                    <a:ext uri="{9D8B030D-6E8A-4147-A177-3AD203B41FA5}">
                      <a16:colId xmlns:a16="http://schemas.microsoft.com/office/drawing/2014/main" val="532434220"/>
                    </a:ext>
                  </a:extLst>
                </a:gridCol>
                <a:gridCol w="1744980">
                  <a:extLst>
                    <a:ext uri="{9D8B030D-6E8A-4147-A177-3AD203B41FA5}">
                      <a16:colId xmlns:a16="http://schemas.microsoft.com/office/drawing/2014/main" val="271797576"/>
                    </a:ext>
                  </a:extLst>
                </a:gridCol>
              </a:tblGrid>
              <a:tr h="104474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#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Chapter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Covered?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Source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Status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extLst>
                  <a:ext uri="{0D108BD9-81ED-4DB2-BD59-A6C34878D82A}">
                    <a16:rowId xmlns:a16="http://schemas.microsoft.com/office/drawing/2014/main" val="2695546296"/>
                  </a:ext>
                </a:extLst>
              </a:tr>
              <a:tr h="177606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4.1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Advanced Data Science (Part 1)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extLst>
                  <a:ext uri="{0D108BD9-81ED-4DB2-BD59-A6C34878D82A}">
                    <a16:rowId xmlns:a16="http://schemas.microsoft.com/office/drawing/2014/main" val="1242859539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4.1.1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Agentic AI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extLst>
                  <a:ext uri="{0D108BD9-81ED-4DB2-BD59-A6C34878D82A}">
                    <a16:rowId xmlns:a16="http://schemas.microsoft.com/office/drawing/2014/main" val="2998303477"/>
                  </a:ext>
                </a:extLst>
              </a:tr>
              <a:tr h="177606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4.1.2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Transformer Architecture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extLst>
                  <a:ext uri="{0D108BD9-81ED-4DB2-BD59-A6C34878D82A}">
                    <a16:rowId xmlns:a16="http://schemas.microsoft.com/office/drawing/2014/main" val="1074997854"/>
                  </a:ext>
                </a:extLst>
              </a:tr>
              <a:tr h="250738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4.1.3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Large Language Models (BERT, GPT, T5)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extLst>
                  <a:ext uri="{0D108BD9-81ED-4DB2-BD59-A6C34878D82A}">
                    <a16:rowId xmlns:a16="http://schemas.microsoft.com/office/drawing/2014/main" val="1032789856"/>
                  </a:ext>
                </a:extLst>
              </a:tr>
              <a:tr h="250738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4.1.4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Vision Transformers (ViT)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extLst>
                  <a:ext uri="{0D108BD9-81ED-4DB2-BD59-A6C34878D82A}">
                    <a16:rowId xmlns:a16="http://schemas.microsoft.com/office/drawing/2014/main" val="1012884513"/>
                  </a:ext>
                </a:extLst>
              </a:tr>
              <a:tr h="323869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4.1.5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Generative Adversarial Networks (GANs)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extLst>
                  <a:ext uri="{0D108BD9-81ED-4DB2-BD59-A6C34878D82A}">
                    <a16:rowId xmlns:a16="http://schemas.microsoft.com/office/drawing/2014/main" val="522991140"/>
                  </a:ext>
                </a:extLst>
              </a:tr>
              <a:tr h="177606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4.1.6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Diffusion Models (Stable Diffusion)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extLst>
                  <a:ext uri="{0D108BD9-81ED-4DB2-BD59-A6C34878D82A}">
                    <a16:rowId xmlns:a16="http://schemas.microsoft.com/office/drawing/2014/main" val="1208389282"/>
                  </a:ext>
                </a:extLst>
              </a:tr>
              <a:tr h="250738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4.1.7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Explainable AI (LIME, SHAP, IG)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extLst>
                  <a:ext uri="{0D108BD9-81ED-4DB2-BD59-A6C34878D82A}">
                    <a16:rowId xmlns:a16="http://schemas.microsoft.com/office/drawing/2014/main" val="3081591516"/>
                  </a:ext>
                </a:extLst>
              </a:tr>
              <a:tr h="177606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4.2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Advanced Data Science (Part 2)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extLst>
                  <a:ext uri="{0D108BD9-81ED-4DB2-BD59-A6C34878D82A}">
                    <a16:rowId xmlns:a16="http://schemas.microsoft.com/office/drawing/2014/main" val="3777016795"/>
                  </a:ext>
                </a:extLst>
              </a:tr>
              <a:tr h="250738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4.2.1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Advanced Optimization (SGD Variants)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Partial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DS-122 (basic gradient descent)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⚠️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EXPAND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extLst>
                  <a:ext uri="{0D108BD9-81ED-4DB2-BD59-A6C34878D82A}">
                    <a16:rowId xmlns:a16="http://schemas.microsoft.com/office/drawing/2014/main" val="1707804428"/>
                  </a:ext>
                </a:extLst>
              </a:tr>
              <a:tr h="177606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4.2.2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Distributed Training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extLst>
                  <a:ext uri="{0D108BD9-81ED-4DB2-BD59-A6C34878D82A}">
                    <a16:rowId xmlns:a16="http://schemas.microsoft.com/office/drawing/2014/main" val="2848347935"/>
                  </a:ext>
                </a:extLst>
              </a:tr>
              <a:tr h="177606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4.2.3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Curriculum Learning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extLst>
                  <a:ext uri="{0D108BD9-81ED-4DB2-BD59-A6C34878D82A}">
                    <a16:rowId xmlns:a16="http://schemas.microsoft.com/office/drawing/2014/main" val="2089321321"/>
                  </a:ext>
                </a:extLst>
              </a:tr>
              <a:tr h="177606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4.2.4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Reinforcement Learning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extLst>
                  <a:ext uri="{0D108BD9-81ED-4DB2-BD59-A6C34878D82A}">
                    <a16:rowId xmlns:a16="http://schemas.microsoft.com/office/drawing/2014/main" val="3320554300"/>
                  </a:ext>
                </a:extLst>
              </a:tr>
              <a:tr h="177606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4.3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Responsible AI &amp; Ethics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extLst>
                  <a:ext uri="{0D108BD9-81ED-4DB2-BD59-A6C34878D82A}">
                    <a16:rowId xmlns:a16="http://schemas.microsoft.com/office/drawing/2014/main" val="462205894"/>
                  </a:ext>
                </a:extLst>
              </a:tr>
              <a:tr h="104474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4.3.1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Bias &amp; Fairness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extLst>
                  <a:ext uri="{0D108BD9-81ED-4DB2-BD59-A6C34878D82A}">
                    <a16:rowId xmlns:a16="http://schemas.microsoft.com/office/drawing/2014/main" val="3495061686"/>
                  </a:ext>
                </a:extLst>
              </a:tr>
              <a:tr h="177606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4.3.2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AI Ethics Frameworks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extLst>
                  <a:ext uri="{0D108BD9-81ED-4DB2-BD59-A6C34878D82A}">
                    <a16:rowId xmlns:a16="http://schemas.microsoft.com/office/drawing/2014/main" val="3462959615"/>
                  </a:ext>
                </a:extLst>
              </a:tr>
              <a:tr h="177606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4.3.3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Governance &amp; Compliance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31342" marR="31342" marT="15671" marB="15671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 dirty="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31342" marR="31342" marT="15671" marB="15671" anchor="ctr"/>
                </a:tc>
                <a:extLst>
                  <a:ext uri="{0D108BD9-81ED-4DB2-BD59-A6C34878D82A}">
                    <a16:rowId xmlns:a16="http://schemas.microsoft.com/office/drawing/2014/main" val="1815562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763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47581-D31E-037A-E0A4-5C5D2367D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88" y="92600"/>
            <a:ext cx="8944824" cy="572700"/>
          </a:xfrm>
        </p:spPr>
        <p:txBody>
          <a:bodyPr/>
          <a:lstStyle/>
          <a:p>
            <a:pPr algn="ctr"/>
            <a:r>
              <a:rPr lang="en-US" sz="1800" dirty="0"/>
              <a:t>MODULE 5: MLOps &amp; Functional Framework (18% of exam)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14C8B82-255C-8E74-5DC6-D383A57F11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787027"/>
              </p:ext>
            </p:extLst>
          </p:nvPr>
        </p:nvGraphicFramePr>
        <p:xfrm>
          <a:off x="400050" y="665300"/>
          <a:ext cx="8343900" cy="4031303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895350">
                  <a:extLst>
                    <a:ext uri="{9D8B030D-6E8A-4147-A177-3AD203B41FA5}">
                      <a16:colId xmlns:a16="http://schemas.microsoft.com/office/drawing/2014/main" val="3004706591"/>
                    </a:ext>
                  </a:extLst>
                </a:gridCol>
                <a:gridCol w="2442210">
                  <a:extLst>
                    <a:ext uri="{9D8B030D-6E8A-4147-A177-3AD203B41FA5}">
                      <a16:colId xmlns:a16="http://schemas.microsoft.com/office/drawing/2014/main" val="3319274378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145435340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1985635736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3887623173"/>
                    </a:ext>
                  </a:extLst>
                </a:gridCol>
              </a:tblGrid>
              <a:tr h="9733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#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Chapter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Covered?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Source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Status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1432201804"/>
                  </a:ext>
                </a:extLst>
              </a:tr>
              <a:tr h="233593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5.1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Data Science Functional Framework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4035839602"/>
                  </a:ext>
                </a:extLst>
              </a:tr>
              <a:tr h="233593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5.1.1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BI vs. Analytics vs. Data Science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Minimal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DS-100 (conceptual overview)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⚠️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EXPAND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584727839"/>
                  </a:ext>
                </a:extLst>
              </a:tr>
              <a:tr h="16546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5.1.2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Data Lake Architecture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2454850863"/>
                  </a:ext>
                </a:extLst>
              </a:tr>
              <a:tr h="233593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5.1.3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Enterprise Analytics Ecosystem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2263045264"/>
                  </a:ext>
                </a:extLst>
              </a:tr>
              <a:tr h="16546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5.2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MLOps Foundations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DS-130 not taken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2433141613"/>
                  </a:ext>
                </a:extLst>
              </a:tr>
              <a:tr h="9733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5.2.1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CI/CD for ML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3500996993"/>
                  </a:ext>
                </a:extLst>
              </a:tr>
              <a:tr h="301724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5.2.2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Model Versioning (MLflow, DVC, W&amp;B)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3433533250"/>
                  </a:ext>
                </a:extLst>
              </a:tr>
              <a:tr h="16546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5.2.3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Automated Testing for ML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3387529855"/>
                  </a:ext>
                </a:extLst>
              </a:tr>
              <a:tr h="16546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5.3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Production Deployment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DS-130 not taken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2531100884"/>
                  </a:ext>
                </a:extLst>
              </a:tr>
              <a:tr h="16546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5.3.1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Containerization (Docker)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373113864"/>
                  </a:ext>
                </a:extLst>
              </a:tr>
              <a:tr h="16546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5.3.2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Kubernetes for ML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3821646360"/>
                  </a:ext>
                </a:extLst>
              </a:tr>
              <a:tr h="16546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5.3.3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Kubeflow &amp; KServe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251345378"/>
                  </a:ext>
                </a:extLst>
              </a:tr>
              <a:tr h="16546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5.3.4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GitOps Workflows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3195638728"/>
                  </a:ext>
                </a:extLst>
              </a:tr>
              <a:tr h="233593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5.4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Monitoring &amp; Observability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Minimal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DS-130 mentions monitoring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⚠️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4166407170"/>
                  </a:ext>
                </a:extLst>
              </a:tr>
              <a:tr h="233593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5.4.1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Drift Detection (Data, Concept, Model)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4262629709"/>
                  </a:ext>
                </a:extLst>
              </a:tr>
              <a:tr h="16546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5.4.2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Prometheus &amp; Grafana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116426834"/>
                  </a:ext>
                </a:extLst>
              </a:tr>
              <a:tr h="97330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5.4.3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Evidently AI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658405484"/>
                  </a:ext>
                </a:extLst>
              </a:tr>
              <a:tr h="165462"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5.5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Edge &amp; Cloud Deployment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Bai Jamjuree" panose="020B0604020202020204" charset="-34"/>
                          <a:cs typeface="Bai Jamjuree" panose="020B0604020202020204" charset="-34"/>
                        </a:rPr>
                        <a:t>None</a:t>
                      </a:r>
                    </a:p>
                  </a:txBody>
                  <a:tcPr marL="29199" marR="29199" marT="14600" marB="14600"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❌ </a:t>
                      </a:r>
                      <a:r>
                        <a:rPr lang="en-US" sz="1000" b="1" dirty="0">
                          <a:latin typeface="Bai Jamjuree" panose="020B0604020202020204" charset="-34"/>
                          <a:cs typeface="Bai Jamjuree" panose="020B0604020202020204" charset="-34"/>
                        </a:rPr>
                        <a:t>NEW</a:t>
                      </a:r>
                      <a:endParaRPr lang="en-US" sz="1000" dirty="0">
                        <a:latin typeface="Bai Jamjuree" panose="020B0604020202020204" charset="-34"/>
                        <a:cs typeface="Bai Jamjuree" panose="020B0604020202020204" charset="-34"/>
                      </a:endParaRPr>
                    </a:p>
                  </a:txBody>
                  <a:tcPr marL="29199" marR="29199" marT="14600" marB="14600" anchor="ctr"/>
                </a:tc>
                <a:extLst>
                  <a:ext uri="{0D108BD9-81ED-4DB2-BD59-A6C34878D82A}">
                    <a16:rowId xmlns:a16="http://schemas.microsoft.com/office/drawing/2014/main" val="1672651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073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8749069"/>
      </p:ext>
    </p:extLst>
  </p:cSld>
  <p:clrMapOvr>
    <a:masterClrMapping/>
  </p:clrMapOvr>
</p:sld>
</file>

<file path=ppt/theme/theme1.xml><?xml version="1.0" encoding="utf-8"?>
<a:theme xmlns:a="http://schemas.openxmlformats.org/drawingml/2006/main" name="Ethics of Artificial Intelligence by Slidesgo">
  <a:themeElements>
    <a:clrScheme name="Simple Light">
      <a:dk1>
        <a:srgbClr val="FFFFFF"/>
      </a:dk1>
      <a:lt1>
        <a:srgbClr val="0E2C63"/>
      </a:lt1>
      <a:dk2>
        <a:srgbClr val="1D215B"/>
      </a:dk2>
      <a:lt2>
        <a:srgbClr val="2A377F"/>
      </a:lt2>
      <a:accent1>
        <a:srgbClr val="154378"/>
      </a:accent1>
      <a:accent2>
        <a:srgbClr val="0A5F85"/>
      </a:accent2>
      <a:accent3>
        <a:srgbClr val="049DB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2707</Words>
  <Application>Microsoft Office PowerPoint</Application>
  <PresentationFormat>On-screen Show (16:9)</PresentationFormat>
  <Paragraphs>729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Proxima Nova</vt:lpstr>
      <vt:lpstr>Aldrich</vt:lpstr>
      <vt:lpstr>Proxima Nova Semibold</vt:lpstr>
      <vt:lpstr>Bai Jamjuree</vt:lpstr>
      <vt:lpstr>Wingdings</vt:lpstr>
      <vt:lpstr>Nunito Light</vt:lpstr>
      <vt:lpstr>Ethics of Artificial Intelligence by Slidesgo</vt:lpstr>
      <vt:lpstr>Slidesgo Final Pages</vt:lpstr>
      <vt:lpstr>DS-300 Certification Preparation for Citizen DS</vt:lpstr>
      <vt:lpstr>Proposed 5-Day Structure</vt:lpstr>
      <vt:lpstr>DAY 1: "BASE CAMP" - Orientation &amp; Foundations</vt:lpstr>
      <vt:lpstr>DAY 2:  "SCALE UP" (Part 2) + "SHIP IT"</vt:lpstr>
      <vt:lpstr>DAY 3: "LEVEL UP" - Advanced AI &amp; Generative Models</vt:lpstr>
      <vt:lpstr>DAY 4: "ALIGN IT" - Strategic Frameworks &amp; Business Impact</vt:lpstr>
      <vt:lpstr>DAY 5: "SUMMIT" - Integration Workshop + Mock Exam</vt:lpstr>
      <vt:lpstr>Chapters Coverage Analysis</vt:lpstr>
      <vt:lpstr>MODULE 1: Data Science Applications and Business Impact (15% of exam)</vt:lpstr>
      <vt:lpstr>MODULE 2: Core Data Essentials (15% of exam)</vt:lpstr>
      <vt:lpstr>MODULE 3: Big Data, Real-Time Systems &amp; Cloud Platforms (17% of exam)</vt:lpstr>
      <vt:lpstr>MODULE 4: Advanced Data Science &amp; Generative AI (10% of exam)</vt:lpstr>
      <vt:lpstr>MODULE 5: MLOps &amp; Functional Framework (18% of exam)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Ethics of Artificial Intelligence</dc:title>
  <dc:creator>Alhashem, Mayadah M</dc:creator>
  <cp:lastModifiedBy>Mayadah Alhashem</cp:lastModifiedBy>
  <cp:revision>13</cp:revision>
  <dcterms:modified xsi:type="dcterms:W3CDTF">2025-12-21T07:56:19Z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815aaf-7408-4215-9024-78fd196cf630_Enabled">
    <vt:lpwstr>True</vt:lpwstr>
  </property>
  <property fmtid="{D5CDD505-2E9C-101B-9397-08002B2CF9AE}" pid="3" name="MSIP_Label_37815aaf-7408-4215-9024-78fd196cf630_SiteId">
    <vt:lpwstr>5a1e0c10-68b1-4667-974b-f394ba989c51</vt:lpwstr>
  </property>
  <property fmtid="{D5CDD505-2E9C-101B-9397-08002B2CF9AE}" pid="4" name="MSIP_Label_37815aaf-7408-4215-9024-78fd196cf630_Owner">
    <vt:lpwstr>alhashmm@aramco.com</vt:lpwstr>
  </property>
  <property fmtid="{D5CDD505-2E9C-101B-9397-08002B2CF9AE}" pid="5" name="MSIP_Label_37815aaf-7408-4215-9024-78fd196cf630_SetDate">
    <vt:lpwstr>2025-12-21T06:35:23.6571103Z</vt:lpwstr>
  </property>
  <property fmtid="{D5CDD505-2E9C-101B-9397-08002B2CF9AE}" pid="6" name="MSIP_Label_37815aaf-7408-4215-9024-78fd196cf630_Name">
    <vt:lpwstr>Public</vt:lpwstr>
  </property>
  <property fmtid="{D5CDD505-2E9C-101B-9397-08002B2CF9AE}" pid="7" name="MSIP_Label_37815aaf-7408-4215-9024-78fd196cf630_Application">
    <vt:lpwstr>Microsoft Azure Information Protection</vt:lpwstr>
  </property>
  <property fmtid="{D5CDD505-2E9C-101B-9397-08002B2CF9AE}" pid="8" name="MSIP_Label_37815aaf-7408-4215-9024-78fd196cf630_ActionId">
    <vt:lpwstr>26c9e7db-85ea-4db0-818b-28d68e3890de</vt:lpwstr>
  </property>
  <property fmtid="{D5CDD505-2E9C-101B-9397-08002B2CF9AE}" pid="9" name="MSIP_Label_37815aaf-7408-4215-9024-78fd196cf630_Extended_MSFT_Method">
    <vt:lpwstr>Manual</vt:lpwstr>
  </property>
  <property fmtid="{D5CDD505-2E9C-101B-9397-08002B2CF9AE}" pid="10" name="Sensitivity">
    <vt:lpwstr>Public</vt:lpwstr>
  </property>
</Properties>
</file>